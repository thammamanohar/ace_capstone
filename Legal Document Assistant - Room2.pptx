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Liter"/>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2949DA-FF79-4738-B8D2-11C63B47F9BD}">
  <a:tblStyle styleId="{CC2949DA-FF79-4738-B8D2-11C63B47F9B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24" Type="http://schemas.openxmlformats.org/officeDocument/2006/relationships/font" Target="fonts/Liter-regular.fntdata"/><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210786e98_2_2: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210786e98_2_2: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55" name="Google Shape;55;g3f210786e98_2_2: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210786e98_2_19: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f210786e98_2_19: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72" name="Google Shape;72;g3f210786e98_2_19: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210786e98_2_46: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g3f210786e98_2_46: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00" name="Google Shape;100;g3f210786e98_2_46: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210786e98_2_56: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g3f210786e98_2_56: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11" name="Google Shape;111;g3f210786e98_2_56: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210786e98_2_77: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g3f210786e98_2_77: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33" name="Google Shape;133;g3f210786e98_2_77: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210786e98_2_97: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f210786e98_2_97: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54" name="Google Shape;154;g3f210786e98_2_97: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210786e98_2_107: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f210786e98_2_107: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65" name="Google Shape;165;g3f210786e98_2_107: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210786e98_2_137: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f210786e98_2_137: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96" name="Google Shape;196;g3f210786e98_2_137: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210786e98_2_171: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3f210786e98_2_171: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31" name="Google Shape;231;g3f210786e98_2_171: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210786e98_2_179: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g3f210786e98_2_179: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40" name="Google Shape;240;g3f210786e98_2_179: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215048c17_0_0: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g3f215048c17_0_0: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48" name="Google Shape;248;g3f215048c17_0_0: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215048c17_0_27: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3f215048c17_0_27: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54" name="Google Shape;254;g3f215048c17_0_27: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210786e98_2_211: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3f210786e98_2_211: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60" name="Google Shape;260;g3f210786e98_2_211: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210786e98_2_221: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3f210786e98_2_221: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271" name="Google Shape;271;g3f210786e98_2_221: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210786e98_2_251: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g3f210786e98_2_251: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302" name="Google Shape;302;g3f210786e98_2_251: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210786e98_2_279:notes"/>
          <p:cNvSpPr/>
          <p:nvPr>
            <p:ph idx="2" type="sldImg"/>
          </p:nvPr>
        </p:nvSpPr>
        <p:spPr>
          <a:xfrm>
            <a:off x="0" y="0"/>
            <a:ext cx="1125000" cy="1125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g3f210786e98_2_279:notes"/>
          <p:cNvSpPr txBox="1"/>
          <p:nvPr>
            <p:ph idx="1" type="body"/>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331" name="Google Shape;331;g3f210786e98_2_279:notes"/>
          <p:cNvSpPr txBox="1"/>
          <p:nvPr>
            <p:ph idx="12" type="sldNum"/>
          </p:nvPr>
        </p:nvSpPr>
        <p:spPr>
          <a:xfrm>
            <a:off x="0" y="0"/>
            <a:ext cx="1500000" cy="1125000"/>
          </a:xfrm>
          <a:prstGeom prst="rect">
            <a:avLst/>
          </a:prstGeom>
          <a:noFill/>
          <a:ln>
            <a:noFill/>
          </a:ln>
        </p:spPr>
        <p:txBody>
          <a:bodyPr anchorCtr="0" anchor="t" bIns="20950" lIns="41900" spcFirstLastPara="1" rIns="41900" wrap="square" tIns="20950">
            <a:noAutofit/>
          </a:bodyPr>
          <a:lstStyle/>
          <a:p>
            <a:pPr indent="0" lvl="0" marL="0" marR="0" rtl="0" algn="l">
              <a:spcBef>
                <a:spcPts val="0"/>
              </a:spcBef>
              <a:spcAft>
                <a:spcPts val="0"/>
              </a:spcAft>
              <a:buNone/>
            </a:pPr>
            <a:fld id="{00000000-1234-1234-1234-123412341234}" type="slidenum">
              <a:rPr lang="en"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hyperlink" Target="https://github.com/ThammaManohar/ACE_Capst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56" name="Shape 56"/>
        <p:cNvGrpSpPr/>
        <p:nvPr/>
      </p:nvGrpSpPr>
      <p:grpSpPr>
        <a:xfrm>
          <a:off x="0" y="0"/>
          <a:ext cx="0" cy="0"/>
          <a:chOff x="0" y="0"/>
          <a:chExt cx="0" cy="0"/>
        </a:xfrm>
      </p:grpSpPr>
      <p:pic>
        <p:nvPicPr>
          <p:cNvPr descr="https://images.unsplash.com/photo-1589829545856-d10d557cf95f?w=1200" id="57" name="Google Shape;57;p15"/>
          <p:cNvPicPr preferRelativeResize="0"/>
          <p:nvPr/>
        </p:nvPicPr>
        <p:blipFill rotWithShape="1">
          <a:blip r:embed="rId3">
            <a:alphaModFix/>
          </a:blip>
          <a:srcRect b="0" l="0" r="0" t="0"/>
          <a:stretch/>
        </p:blipFill>
        <p:spPr>
          <a:xfrm>
            <a:off x="6191250" y="0"/>
            <a:ext cx="2952750" cy="5143500"/>
          </a:xfrm>
          <a:prstGeom prst="rect">
            <a:avLst/>
          </a:prstGeom>
          <a:noFill/>
          <a:ln>
            <a:noFill/>
          </a:ln>
        </p:spPr>
      </p:pic>
      <p:sp>
        <p:nvSpPr>
          <p:cNvPr id="58" name="Google Shape;58;p15"/>
          <p:cNvSpPr/>
          <p:nvPr/>
        </p:nvSpPr>
        <p:spPr>
          <a:xfrm>
            <a:off x="468630" y="578787"/>
            <a:ext cx="5619750" cy="1238250"/>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i="0" lang="en" sz="3700" u="none" cap="none" strike="noStrike">
                <a:solidFill>
                  <a:srgbClr val="FFFFFF"/>
                </a:solidFill>
                <a:latin typeface="Liter"/>
                <a:ea typeface="Liter"/>
                <a:cs typeface="Liter"/>
                <a:sym typeface="Liter"/>
              </a:rPr>
              <a:t>LEGAL DOCUMENT </a:t>
            </a:r>
            <a:endParaRPr b="0" i="0" sz="3700" u="none" cap="none" strike="noStrike">
              <a:solidFill>
                <a:schemeClr val="dk1"/>
              </a:solidFill>
              <a:latin typeface="Calibri"/>
              <a:ea typeface="Calibri"/>
              <a:cs typeface="Calibri"/>
              <a:sym typeface="Calibri"/>
            </a:endParaRPr>
          </a:p>
          <a:p>
            <a:pPr indent="0" lvl="0" marL="0" marR="0" rtl="0" algn="l">
              <a:lnSpc>
                <a:spcPct val="119949"/>
              </a:lnSpc>
              <a:spcBef>
                <a:spcPts val="0"/>
              </a:spcBef>
              <a:spcAft>
                <a:spcPts val="0"/>
              </a:spcAft>
              <a:buNone/>
            </a:pPr>
            <a:r>
              <a:rPr b="1" i="0" lang="en" sz="3700" u="none" cap="none" strike="noStrike">
                <a:solidFill>
                  <a:srgbClr val="FFFFFF"/>
                </a:solidFill>
                <a:latin typeface="Liter"/>
                <a:ea typeface="Liter"/>
                <a:cs typeface="Liter"/>
                <a:sym typeface="Liter"/>
              </a:rPr>
              <a:t>ASSISTANT</a:t>
            </a:r>
            <a:endParaRPr b="0" i="0" sz="3700" u="none" cap="none" strike="noStrike">
              <a:solidFill>
                <a:schemeClr val="dk1"/>
              </a:solidFill>
              <a:latin typeface="Calibri"/>
              <a:ea typeface="Calibri"/>
              <a:cs typeface="Calibri"/>
              <a:sym typeface="Calibri"/>
            </a:endParaRPr>
          </a:p>
        </p:txBody>
      </p:sp>
      <p:sp>
        <p:nvSpPr>
          <p:cNvPr id="59" name="Google Shape;59;p15"/>
          <p:cNvSpPr/>
          <p:nvPr/>
        </p:nvSpPr>
        <p:spPr>
          <a:xfrm>
            <a:off x="468630" y="1905000"/>
            <a:ext cx="952500" cy="28575"/>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 name="Google Shape;60;p15"/>
          <p:cNvSpPr/>
          <p:nvPr/>
        </p:nvSpPr>
        <p:spPr>
          <a:xfrm>
            <a:off x="468630" y="2047875"/>
            <a:ext cx="5715000" cy="333375"/>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b="0" i="0" lang="en" sz="1400" u="none" cap="none" strike="noStrike">
                <a:solidFill>
                  <a:srgbClr val="FFFFFF"/>
                </a:solidFill>
                <a:latin typeface="Liter"/>
                <a:ea typeface="Liter"/>
                <a:cs typeface="Liter"/>
                <a:sym typeface="Liter"/>
              </a:rPr>
              <a:t>An Agentic RAG System for Indian Case Law Research</a:t>
            </a:r>
            <a:endParaRPr b="0" i="0" sz="1400" u="none" cap="none" strike="noStrike">
              <a:solidFill>
                <a:schemeClr val="dk1"/>
              </a:solidFill>
              <a:latin typeface="Calibri"/>
              <a:ea typeface="Calibri"/>
              <a:cs typeface="Calibri"/>
              <a:sym typeface="Calibri"/>
            </a:endParaRPr>
          </a:p>
        </p:txBody>
      </p:sp>
      <p:sp>
        <p:nvSpPr>
          <p:cNvPr id="61" name="Google Shape;61;p15"/>
          <p:cNvSpPr/>
          <p:nvPr/>
        </p:nvSpPr>
        <p:spPr>
          <a:xfrm>
            <a:off x="468630" y="2476500"/>
            <a:ext cx="4286250" cy="952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 sz="1200" u="none" cap="none" strike="noStrike">
                <a:solidFill>
                  <a:srgbClr val="FFFFFF"/>
                </a:solidFill>
                <a:latin typeface="Liter"/>
                <a:ea typeface="Liter"/>
                <a:cs typeface="Liter"/>
                <a:sym typeface="Liter"/>
              </a:rPr>
              <a:t>ACE Capstone Project</a:t>
            </a:r>
            <a:endParaRPr b="0" i="0" sz="12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None/>
            </a:pPr>
            <a:r>
              <a:rPr b="0" i="0" lang="en" sz="1200" u="none" cap="none" strike="noStrike">
                <a:solidFill>
                  <a:srgbClr val="FFFFFF"/>
                </a:solidFill>
                <a:latin typeface="Liter"/>
                <a:ea typeface="Liter"/>
                <a:cs typeface="Liter"/>
                <a:sym typeface="Liter"/>
              </a:rPr>
              <a:t>Agentic AI with RAG Pipeline</a:t>
            </a:r>
            <a:endParaRPr b="0" i="0" sz="1200" u="none" cap="none" strike="noStrike">
              <a:solidFill>
                <a:schemeClr val="dk1"/>
              </a:solidFill>
              <a:latin typeface="Calibri"/>
              <a:ea typeface="Calibri"/>
              <a:cs typeface="Calibri"/>
              <a:sym typeface="Calibri"/>
            </a:endParaRPr>
          </a:p>
        </p:txBody>
      </p:sp>
      <p:sp>
        <p:nvSpPr>
          <p:cNvPr id="62" name="Google Shape;62;p15"/>
          <p:cNvSpPr/>
          <p:nvPr/>
        </p:nvSpPr>
        <p:spPr>
          <a:xfrm>
            <a:off x="468630" y="3571875"/>
            <a:ext cx="762000" cy="238125"/>
          </a:xfrm>
          <a:prstGeom prst="rect">
            <a:avLst/>
          </a:prstGeom>
          <a:solidFill>
            <a:srgbClr val="7EC0DA">
              <a:alpha val="12549"/>
            </a:srgbClr>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3" name="Google Shape;63;p15"/>
          <p:cNvSpPr/>
          <p:nvPr/>
        </p:nvSpPr>
        <p:spPr>
          <a:xfrm>
            <a:off x="468630" y="3571875"/>
            <a:ext cx="762000" cy="23812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 sz="1000" u="none" cap="none" strike="noStrike">
                <a:solidFill>
                  <a:srgbClr val="7EC0DA"/>
                </a:solidFill>
                <a:latin typeface="Liter"/>
                <a:ea typeface="Liter"/>
                <a:cs typeface="Liter"/>
                <a:sym typeface="Liter"/>
              </a:rPr>
              <a:t>RAG</a:t>
            </a:r>
            <a:endParaRPr b="0" i="0" sz="1000" u="none" cap="none" strike="noStrike">
              <a:solidFill>
                <a:schemeClr val="dk1"/>
              </a:solidFill>
              <a:latin typeface="Calibri"/>
              <a:ea typeface="Calibri"/>
              <a:cs typeface="Calibri"/>
              <a:sym typeface="Calibri"/>
            </a:endParaRPr>
          </a:p>
        </p:txBody>
      </p:sp>
      <p:sp>
        <p:nvSpPr>
          <p:cNvPr id="64" name="Google Shape;64;p15"/>
          <p:cNvSpPr/>
          <p:nvPr/>
        </p:nvSpPr>
        <p:spPr>
          <a:xfrm>
            <a:off x="1325880" y="3571875"/>
            <a:ext cx="762000" cy="238125"/>
          </a:xfrm>
          <a:prstGeom prst="rect">
            <a:avLst/>
          </a:prstGeom>
          <a:solidFill>
            <a:srgbClr val="7EC0DA">
              <a:alpha val="12549"/>
            </a:srgbClr>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5" name="Google Shape;65;p15"/>
          <p:cNvSpPr/>
          <p:nvPr/>
        </p:nvSpPr>
        <p:spPr>
          <a:xfrm>
            <a:off x="1325880" y="3571875"/>
            <a:ext cx="762000" cy="23812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 sz="1000" u="none" cap="none" strike="noStrike">
                <a:solidFill>
                  <a:srgbClr val="7EC0DA"/>
                </a:solidFill>
                <a:latin typeface="Liter"/>
                <a:ea typeface="Liter"/>
                <a:cs typeface="Liter"/>
                <a:sym typeface="Liter"/>
              </a:rPr>
              <a:t>LEGAL AI</a:t>
            </a:r>
            <a:endParaRPr b="0" i="0" sz="1000" u="none" cap="none" strike="noStrike">
              <a:solidFill>
                <a:schemeClr val="dk1"/>
              </a:solidFill>
              <a:latin typeface="Calibri"/>
              <a:ea typeface="Calibri"/>
              <a:cs typeface="Calibri"/>
              <a:sym typeface="Calibri"/>
            </a:endParaRPr>
          </a:p>
        </p:txBody>
      </p:sp>
      <p:sp>
        <p:nvSpPr>
          <p:cNvPr id="66" name="Google Shape;66;p15"/>
          <p:cNvSpPr/>
          <p:nvPr/>
        </p:nvSpPr>
        <p:spPr>
          <a:xfrm>
            <a:off x="2183130" y="3571875"/>
            <a:ext cx="952500" cy="238125"/>
          </a:xfrm>
          <a:prstGeom prst="rect">
            <a:avLst/>
          </a:prstGeom>
          <a:solidFill>
            <a:srgbClr val="7EC0DA">
              <a:alpha val="12549"/>
            </a:srgbClr>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7" name="Google Shape;67;p15"/>
          <p:cNvSpPr/>
          <p:nvPr/>
        </p:nvSpPr>
        <p:spPr>
          <a:xfrm>
            <a:off x="2183130" y="3571875"/>
            <a:ext cx="952500" cy="23812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 sz="1000" u="none" cap="none" strike="noStrike">
                <a:solidFill>
                  <a:srgbClr val="7EC0DA"/>
                </a:solidFill>
                <a:latin typeface="Liter"/>
                <a:ea typeface="Liter"/>
                <a:cs typeface="Liter"/>
                <a:sym typeface="Liter"/>
              </a:rPr>
              <a:t>INDIAN LAW</a:t>
            </a:r>
            <a:endParaRPr b="0" i="0" sz="1000" u="none" cap="none" strike="noStrike">
              <a:solidFill>
                <a:schemeClr val="dk1"/>
              </a:solidFill>
              <a:latin typeface="Calibri"/>
              <a:ea typeface="Calibri"/>
              <a:cs typeface="Calibri"/>
              <a:sym typeface="Calibri"/>
            </a:endParaRPr>
          </a:p>
        </p:txBody>
      </p:sp>
      <p:sp>
        <p:nvSpPr>
          <p:cNvPr id="68" name="Google Shape;68;p15"/>
          <p:cNvSpPr txBox="1"/>
          <p:nvPr/>
        </p:nvSpPr>
        <p:spPr>
          <a:xfrm>
            <a:off x="3628825" y="3704975"/>
            <a:ext cx="1857300" cy="1004400"/>
          </a:xfrm>
          <a:prstGeom prst="rect">
            <a:avLst/>
          </a:prstGeom>
          <a:noFill/>
          <a:ln>
            <a:noFill/>
          </a:ln>
        </p:spPr>
        <p:txBody>
          <a:bodyPr anchorCtr="0" anchor="t" bIns="17150" lIns="34275" spcFirstLastPara="1" rIns="34275" wrap="square" tIns="17150">
            <a:spAutoFit/>
          </a:bodyPr>
          <a:lstStyle/>
          <a:p>
            <a:pPr indent="0" lvl="0" marL="0" marR="0" rtl="0" algn="l">
              <a:spcBef>
                <a:spcPts val="0"/>
              </a:spcBef>
              <a:spcAft>
                <a:spcPts val="0"/>
              </a:spcAft>
              <a:buNone/>
            </a:pPr>
            <a:r>
              <a:rPr b="1" i="0" lang="en" sz="900" u="none" cap="none" strike="noStrike">
                <a:solidFill>
                  <a:schemeClr val="lt1"/>
                </a:solidFill>
                <a:latin typeface="Calibri"/>
                <a:ea typeface="Calibri"/>
                <a:cs typeface="Calibri"/>
                <a:sym typeface="Calibri"/>
              </a:rPr>
              <a:t>THE TEAM</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Anish Ghosh</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Ayush Bansal</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Diksha Arya</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Manav R</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Shadman Ashiq</a:t>
            </a:r>
            <a:endParaRPr sz="700"/>
          </a:p>
          <a:p>
            <a:pPr indent="0" lvl="0" marL="0" marR="0" rtl="0" algn="l">
              <a:spcBef>
                <a:spcPts val="0"/>
              </a:spcBef>
              <a:spcAft>
                <a:spcPts val="0"/>
              </a:spcAft>
              <a:buNone/>
            </a:pPr>
            <a:r>
              <a:rPr lang="en" sz="900">
                <a:solidFill>
                  <a:schemeClr val="lt1"/>
                </a:solidFill>
                <a:latin typeface="Calibri"/>
                <a:ea typeface="Calibri"/>
                <a:cs typeface="Calibri"/>
                <a:sym typeface="Calibri"/>
              </a:rPr>
              <a:t>Venkata Sai Manohar Thamma</a:t>
            </a:r>
            <a:endParaRPr sz="70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73" name="Shape 73"/>
        <p:cNvGrpSpPr/>
        <p:nvPr/>
      </p:nvGrpSpPr>
      <p:grpSpPr>
        <a:xfrm>
          <a:off x="0" y="0"/>
          <a:ext cx="0" cy="0"/>
          <a:chOff x="0" y="0"/>
          <a:chExt cx="0" cy="0"/>
        </a:xfrm>
      </p:grpSpPr>
      <p:sp>
        <p:nvSpPr>
          <p:cNvPr id="74" name="Google Shape;74;p16"/>
          <p:cNvSpPr/>
          <p:nvPr/>
        </p:nvSpPr>
        <p:spPr>
          <a:xfrm>
            <a:off x="5238750" y="952500"/>
            <a:ext cx="3429000" cy="3333750"/>
          </a:xfrm>
          <a:prstGeom prst="rect">
            <a:avLst/>
          </a:prstGeom>
          <a:solidFill>
            <a:srgbClr val="292929">
              <a:alpha val="37647"/>
            </a:srgbClr>
          </a:solidFill>
          <a:ln cap="flat" cmpd="sng" w="12700">
            <a:solidFill>
              <a:srgbClr val="FFFFFF">
                <a:alpha val="0"/>
              </a:srgbClr>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5" name="Google Shape;75;p16"/>
          <p:cNvSpPr/>
          <p:nvPr/>
        </p:nvSpPr>
        <p:spPr>
          <a:xfrm>
            <a:off x="468630" y="486728"/>
            <a:ext cx="3810000" cy="619125"/>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FFFFFF"/>
                </a:solidFill>
                <a:latin typeface="Liter"/>
                <a:ea typeface="Liter"/>
                <a:cs typeface="Liter"/>
                <a:sym typeface="Liter"/>
              </a:rPr>
              <a:t>Agenda</a:t>
            </a:r>
            <a:endParaRPr sz="3700">
              <a:solidFill>
                <a:schemeClr val="dk1"/>
              </a:solidFill>
              <a:latin typeface="Calibri"/>
              <a:ea typeface="Calibri"/>
              <a:cs typeface="Calibri"/>
              <a:sym typeface="Calibri"/>
            </a:endParaRPr>
          </a:p>
        </p:txBody>
      </p:sp>
      <p:sp>
        <p:nvSpPr>
          <p:cNvPr id="76" name="Google Shape;76;p16"/>
          <p:cNvSpPr/>
          <p:nvPr/>
        </p:nvSpPr>
        <p:spPr>
          <a:xfrm>
            <a:off x="468630" y="1143000"/>
            <a:ext cx="3810000" cy="285750"/>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lang="en" sz="1400">
                <a:solidFill>
                  <a:srgbClr val="FFFFFF"/>
                </a:solidFill>
                <a:latin typeface="Liter"/>
                <a:ea typeface="Liter"/>
                <a:cs typeface="Liter"/>
                <a:sym typeface="Liter"/>
              </a:rPr>
              <a:t>What we will cover today</a:t>
            </a:r>
            <a:endParaRPr sz="1400">
              <a:solidFill>
                <a:schemeClr val="dk1"/>
              </a:solidFill>
              <a:latin typeface="Calibri"/>
              <a:ea typeface="Calibri"/>
              <a:cs typeface="Calibri"/>
              <a:sym typeface="Calibri"/>
            </a:endParaRPr>
          </a:p>
        </p:txBody>
      </p:sp>
      <p:sp>
        <p:nvSpPr>
          <p:cNvPr id="77" name="Google Shape;77;p16"/>
          <p:cNvSpPr/>
          <p:nvPr/>
        </p:nvSpPr>
        <p:spPr>
          <a:xfrm>
            <a:off x="468630" y="1905000"/>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78" name="Google Shape;78;p16"/>
          <p:cNvSpPr/>
          <p:nvPr/>
        </p:nvSpPr>
        <p:spPr>
          <a:xfrm>
            <a:off x="642938" y="1857375"/>
            <a:ext cx="285750" cy="214313"/>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01</a:t>
            </a:r>
            <a:endParaRPr sz="1500">
              <a:solidFill>
                <a:schemeClr val="dk1"/>
              </a:solidFill>
              <a:latin typeface="Calibri"/>
              <a:ea typeface="Calibri"/>
              <a:cs typeface="Calibri"/>
              <a:sym typeface="Calibri"/>
            </a:endParaRPr>
          </a:p>
        </p:txBody>
      </p:sp>
      <p:sp>
        <p:nvSpPr>
          <p:cNvPr id="79" name="Google Shape;79;p16"/>
          <p:cNvSpPr/>
          <p:nvPr/>
        </p:nvSpPr>
        <p:spPr>
          <a:xfrm>
            <a:off x="1047750" y="1857375"/>
            <a:ext cx="28575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Problem &amp; Solution</a:t>
            </a:r>
            <a:endParaRPr sz="1500">
              <a:solidFill>
                <a:schemeClr val="dk1"/>
              </a:solidFill>
              <a:latin typeface="Calibri"/>
              <a:ea typeface="Calibri"/>
              <a:cs typeface="Calibri"/>
              <a:sym typeface="Calibri"/>
            </a:endParaRPr>
          </a:p>
        </p:txBody>
      </p:sp>
      <p:sp>
        <p:nvSpPr>
          <p:cNvPr id="80" name="Google Shape;80;p16"/>
          <p:cNvSpPr/>
          <p:nvPr/>
        </p:nvSpPr>
        <p:spPr>
          <a:xfrm>
            <a:off x="1047750" y="2143125"/>
            <a:ext cx="285750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chemeClr val="lt1"/>
                </a:solidFill>
                <a:latin typeface="Liter"/>
                <a:ea typeface="Liter"/>
                <a:cs typeface="Liter"/>
                <a:sym typeface="Liter"/>
              </a:rPr>
              <a:t>Understanding the challenge and our approach</a:t>
            </a:r>
            <a:endParaRPr sz="1100">
              <a:solidFill>
                <a:schemeClr val="lt1"/>
              </a:solidFill>
              <a:latin typeface="Calibri"/>
              <a:ea typeface="Calibri"/>
              <a:cs typeface="Calibri"/>
              <a:sym typeface="Calibri"/>
            </a:endParaRPr>
          </a:p>
        </p:txBody>
      </p:sp>
      <p:cxnSp>
        <p:nvCxnSpPr>
          <p:cNvPr id="81" name="Google Shape;81;p16"/>
          <p:cNvCxnSpPr/>
          <p:nvPr/>
        </p:nvCxnSpPr>
        <p:spPr>
          <a:xfrm>
            <a:off x="468630" y="2619375"/>
            <a:ext cx="3810000" cy="0"/>
          </a:xfrm>
          <a:prstGeom prst="straightConnector1">
            <a:avLst/>
          </a:prstGeom>
          <a:noFill/>
          <a:ln cap="flat" cmpd="sng" w="12700">
            <a:solidFill>
              <a:srgbClr val="444444"/>
            </a:solidFill>
            <a:prstDash val="solid"/>
            <a:round/>
            <a:headEnd len="sm" w="sm" type="none"/>
            <a:tailEnd len="sm" w="sm" type="none"/>
          </a:ln>
        </p:spPr>
      </p:cxnSp>
      <p:sp>
        <p:nvSpPr>
          <p:cNvPr id="82" name="Google Shape;82;p16"/>
          <p:cNvSpPr/>
          <p:nvPr/>
        </p:nvSpPr>
        <p:spPr>
          <a:xfrm>
            <a:off x="468630" y="2762250"/>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83" name="Google Shape;83;p16"/>
          <p:cNvSpPr/>
          <p:nvPr/>
        </p:nvSpPr>
        <p:spPr>
          <a:xfrm>
            <a:off x="642938" y="2714625"/>
            <a:ext cx="357188" cy="214313"/>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02</a:t>
            </a:r>
            <a:endParaRPr sz="1500">
              <a:solidFill>
                <a:schemeClr val="dk1"/>
              </a:solidFill>
              <a:latin typeface="Calibri"/>
              <a:ea typeface="Calibri"/>
              <a:cs typeface="Calibri"/>
              <a:sym typeface="Calibri"/>
            </a:endParaRPr>
          </a:p>
        </p:txBody>
      </p:sp>
      <p:sp>
        <p:nvSpPr>
          <p:cNvPr id="84" name="Google Shape;84;p16"/>
          <p:cNvSpPr/>
          <p:nvPr/>
        </p:nvSpPr>
        <p:spPr>
          <a:xfrm>
            <a:off x="1047750" y="2714625"/>
            <a:ext cx="28575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Architecture &amp; Pipeline</a:t>
            </a:r>
            <a:endParaRPr sz="1500">
              <a:solidFill>
                <a:schemeClr val="dk1"/>
              </a:solidFill>
              <a:latin typeface="Calibri"/>
              <a:ea typeface="Calibri"/>
              <a:cs typeface="Calibri"/>
              <a:sym typeface="Calibri"/>
            </a:endParaRPr>
          </a:p>
        </p:txBody>
      </p:sp>
      <p:sp>
        <p:nvSpPr>
          <p:cNvPr id="85" name="Google Shape;85;p16"/>
          <p:cNvSpPr/>
          <p:nvPr/>
        </p:nvSpPr>
        <p:spPr>
          <a:xfrm>
            <a:off x="1047750" y="3000375"/>
            <a:ext cx="2857500" cy="2381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chemeClr val="lt1"/>
                </a:solidFill>
                <a:latin typeface="Liter"/>
                <a:ea typeface="Liter"/>
                <a:cs typeface="Liter"/>
                <a:sym typeface="Liter"/>
              </a:rPr>
              <a:t>System design, data flow, and RAG pipeline</a:t>
            </a:r>
            <a:endParaRPr sz="1100">
              <a:solidFill>
                <a:schemeClr val="lt1"/>
              </a:solidFill>
              <a:latin typeface="Calibri"/>
              <a:ea typeface="Calibri"/>
              <a:cs typeface="Calibri"/>
              <a:sym typeface="Calibri"/>
            </a:endParaRPr>
          </a:p>
        </p:txBody>
      </p:sp>
      <p:cxnSp>
        <p:nvCxnSpPr>
          <p:cNvPr id="86" name="Google Shape;86;p16"/>
          <p:cNvCxnSpPr/>
          <p:nvPr/>
        </p:nvCxnSpPr>
        <p:spPr>
          <a:xfrm>
            <a:off x="468630" y="3333750"/>
            <a:ext cx="3810000" cy="0"/>
          </a:xfrm>
          <a:prstGeom prst="straightConnector1">
            <a:avLst/>
          </a:prstGeom>
          <a:noFill/>
          <a:ln cap="flat" cmpd="sng" w="12700">
            <a:solidFill>
              <a:srgbClr val="444444"/>
            </a:solidFill>
            <a:prstDash val="solid"/>
            <a:round/>
            <a:headEnd len="sm" w="sm" type="none"/>
            <a:tailEnd len="sm" w="sm" type="none"/>
          </a:ln>
        </p:spPr>
      </p:cxnSp>
      <p:sp>
        <p:nvSpPr>
          <p:cNvPr id="87" name="Google Shape;87;p16"/>
          <p:cNvSpPr/>
          <p:nvPr/>
        </p:nvSpPr>
        <p:spPr>
          <a:xfrm>
            <a:off x="468630" y="3524250"/>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88" name="Google Shape;88;p16"/>
          <p:cNvSpPr/>
          <p:nvPr/>
        </p:nvSpPr>
        <p:spPr>
          <a:xfrm>
            <a:off x="642938" y="3476625"/>
            <a:ext cx="357188" cy="214313"/>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03</a:t>
            </a:r>
            <a:endParaRPr sz="1500">
              <a:solidFill>
                <a:schemeClr val="dk1"/>
              </a:solidFill>
              <a:latin typeface="Calibri"/>
              <a:ea typeface="Calibri"/>
              <a:cs typeface="Calibri"/>
              <a:sym typeface="Calibri"/>
            </a:endParaRPr>
          </a:p>
        </p:txBody>
      </p:sp>
      <p:sp>
        <p:nvSpPr>
          <p:cNvPr id="89" name="Google Shape;89;p16"/>
          <p:cNvSpPr/>
          <p:nvPr/>
        </p:nvSpPr>
        <p:spPr>
          <a:xfrm>
            <a:off x="1047750" y="3476625"/>
            <a:ext cx="28575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Technology &amp; Implementation</a:t>
            </a:r>
            <a:endParaRPr sz="1500">
              <a:solidFill>
                <a:schemeClr val="dk1"/>
              </a:solidFill>
              <a:latin typeface="Calibri"/>
              <a:ea typeface="Calibri"/>
              <a:cs typeface="Calibri"/>
              <a:sym typeface="Calibri"/>
            </a:endParaRPr>
          </a:p>
        </p:txBody>
      </p:sp>
      <p:sp>
        <p:nvSpPr>
          <p:cNvPr id="90" name="Google Shape;90;p16"/>
          <p:cNvSpPr/>
          <p:nvPr/>
        </p:nvSpPr>
        <p:spPr>
          <a:xfrm>
            <a:off x="1047750" y="3762375"/>
            <a:ext cx="285750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chemeClr val="lt1"/>
                </a:solidFill>
                <a:latin typeface="Liter"/>
                <a:ea typeface="Liter"/>
                <a:cs typeface="Liter"/>
                <a:sym typeface="Liter"/>
              </a:rPr>
              <a:t>Models, tools, stack, and engineering decisions</a:t>
            </a:r>
            <a:endParaRPr sz="1100">
              <a:solidFill>
                <a:schemeClr val="lt1"/>
              </a:solidFill>
              <a:latin typeface="Calibri"/>
              <a:ea typeface="Calibri"/>
              <a:cs typeface="Calibri"/>
              <a:sym typeface="Calibri"/>
            </a:endParaRPr>
          </a:p>
        </p:txBody>
      </p:sp>
      <p:cxnSp>
        <p:nvCxnSpPr>
          <p:cNvPr id="91" name="Google Shape;91;p16"/>
          <p:cNvCxnSpPr/>
          <p:nvPr/>
        </p:nvCxnSpPr>
        <p:spPr>
          <a:xfrm>
            <a:off x="468630" y="4238625"/>
            <a:ext cx="3810000" cy="0"/>
          </a:xfrm>
          <a:prstGeom prst="straightConnector1">
            <a:avLst/>
          </a:prstGeom>
          <a:noFill/>
          <a:ln cap="flat" cmpd="sng" w="12700">
            <a:solidFill>
              <a:srgbClr val="444444"/>
            </a:solidFill>
            <a:prstDash val="solid"/>
            <a:round/>
            <a:headEnd len="sm" w="sm" type="none"/>
            <a:tailEnd len="sm" w="sm" type="none"/>
          </a:ln>
        </p:spPr>
      </p:cxnSp>
      <p:sp>
        <p:nvSpPr>
          <p:cNvPr id="92" name="Google Shape;92;p16"/>
          <p:cNvSpPr/>
          <p:nvPr/>
        </p:nvSpPr>
        <p:spPr>
          <a:xfrm>
            <a:off x="468630" y="4381500"/>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6"/>
          <p:cNvSpPr/>
          <p:nvPr/>
        </p:nvSpPr>
        <p:spPr>
          <a:xfrm>
            <a:off x="642938" y="4333875"/>
            <a:ext cx="357188" cy="214313"/>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04</a:t>
            </a:r>
            <a:endParaRPr sz="1500">
              <a:solidFill>
                <a:schemeClr val="dk1"/>
              </a:solidFill>
              <a:latin typeface="Calibri"/>
              <a:ea typeface="Calibri"/>
              <a:cs typeface="Calibri"/>
              <a:sym typeface="Calibri"/>
            </a:endParaRPr>
          </a:p>
        </p:txBody>
      </p:sp>
      <p:sp>
        <p:nvSpPr>
          <p:cNvPr id="94" name="Google Shape;94;p16"/>
          <p:cNvSpPr/>
          <p:nvPr/>
        </p:nvSpPr>
        <p:spPr>
          <a:xfrm>
            <a:off x="1047750" y="4333875"/>
            <a:ext cx="333375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Responsible AI &amp; Future</a:t>
            </a:r>
            <a:endParaRPr sz="1500">
              <a:solidFill>
                <a:schemeClr val="dk1"/>
              </a:solidFill>
              <a:latin typeface="Calibri"/>
              <a:ea typeface="Calibri"/>
              <a:cs typeface="Calibri"/>
              <a:sym typeface="Calibri"/>
            </a:endParaRPr>
          </a:p>
        </p:txBody>
      </p:sp>
      <p:sp>
        <p:nvSpPr>
          <p:cNvPr id="95" name="Google Shape;95;p16"/>
          <p:cNvSpPr/>
          <p:nvPr/>
        </p:nvSpPr>
        <p:spPr>
          <a:xfrm>
            <a:off x="1047750" y="4619625"/>
            <a:ext cx="2857500" cy="2381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chemeClr val="lt1"/>
                </a:solidFill>
                <a:latin typeface="Liter"/>
                <a:ea typeface="Liter"/>
                <a:cs typeface="Liter"/>
                <a:sym typeface="Liter"/>
              </a:rPr>
              <a:t>Safety, ethics, and potential enhancements</a:t>
            </a:r>
            <a:endParaRPr sz="1100">
              <a:solidFill>
                <a:schemeClr val="lt1"/>
              </a:solidFill>
              <a:latin typeface="Calibri"/>
              <a:ea typeface="Calibri"/>
              <a:cs typeface="Calibri"/>
              <a:sym typeface="Calibri"/>
            </a:endParaRPr>
          </a:p>
        </p:txBody>
      </p:sp>
      <p:pic>
        <p:nvPicPr>
          <p:cNvPr descr="https://images.unsplash.com/photo-1505664194779-8beaceb93744?w=1200" id="96" name="Google Shape;96;p16"/>
          <p:cNvPicPr preferRelativeResize="0"/>
          <p:nvPr/>
        </p:nvPicPr>
        <p:blipFill rotWithShape="1">
          <a:blip r:embed="rId3">
            <a:alphaModFix/>
          </a:blip>
          <a:srcRect b="0" l="0" r="0" t="0"/>
          <a:stretch/>
        </p:blipFill>
        <p:spPr>
          <a:xfrm>
            <a:off x="5715000" y="6548"/>
            <a:ext cx="3429000" cy="5136952"/>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01" name="Shape 101"/>
        <p:cNvGrpSpPr/>
        <p:nvPr/>
      </p:nvGrpSpPr>
      <p:grpSpPr>
        <a:xfrm>
          <a:off x="0" y="0"/>
          <a:ext cx="0" cy="0"/>
          <a:chOff x="0" y="0"/>
          <a:chExt cx="0" cy="0"/>
        </a:xfrm>
      </p:grpSpPr>
      <p:sp>
        <p:nvSpPr>
          <p:cNvPr id="102" name="Google Shape;102;p17"/>
          <p:cNvSpPr/>
          <p:nvPr/>
        </p:nvSpPr>
        <p:spPr>
          <a:xfrm>
            <a:off x="5943600" y="0"/>
            <a:ext cx="3200400" cy="5143500"/>
          </a:xfrm>
          <a:prstGeom prst="rect">
            <a:avLst/>
          </a:prstGeom>
          <a:solidFill>
            <a:srgbClr val="292929">
              <a:alpha val="37647"/>
            </a:srgbClr>
          </a:solidFill>
          <a:ln cap="flat" cmpd="sng" w="12700">
            <a:solidFill>
              <a:srgbClr val="FFFFFF">
                <a:alpha val="0"/>
              </a:srgbClr>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https://images.unsplash.com/photo-1589829545856-d10d557cf95f?w=1200" id="103" name="Google Shape;103;p17"/>
          <p:cNvPicPr preferRelativeResize="0"/>
          <p:nvPr/>
        </p:nvPicPr>
        <p:blipFill rotWithShape="1">
          <a:blip r:embed="rId3">
            <a:alphaModFix/>
          </a:blip>
          <a:srcRect b="0" l="0" r="0" t="0"/>
          <a:stretch/>
        </p:blipFill>
        <p:spPr>
          <a:xfrm>
            <a:off x="5943600" y="0"/>
            <a:ext cx="3200400" cy="5143500"/>
          </a:xfrm>
          <a:prstGeom prst="rect">
            <a:avLst/>
          </a:prstGeom>
          <a:noFill/>
          <a:ln>
            <a:noFill/>
          </a:ln>
        </p:spPr>
      </p:pic>
      <p:sp>
        <p:nvSpPr>
          <p:cNvPr id="104" name="Google Shape;104;p17"/>
          <p:cNvSpPr/>
          <p:nvPr/>
        </p:nvSpPr>
        <p:spPr>
          <a:xfrm>
            <a:off x="468630" y="1666875"/>
            <a:ext cx="1905000" cy="595313"/>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7EC0DA"/>
                </a:solidFill>
                <a:latin typeface="Liter"/>
                <a:ea typeface="Liter"/>
                <a:cs typeface="Liter"/>
                <a:sym typeface="Liter"/>
              </a:rPr>
              <a:t>01</a:t>
            </a:r>
            <a:endParaRPr sz="3700">
              <a:solidFill>
                <a:schemeClr val="dk1"/>
              </a:solidFill>
              <a:latin typeface="Calibri"/>
              <a:ea typeface="Calibri"/>
              <a:cs typeface="Calibri"/>
              <a:sym typeface="Calibri"/>
            </a:endParaRPr>
          </a:p>
        </p:txBody>
      </p:sp>
      <p:sp>
        <p:nvSpPr>
          <p:cNvPr id="105" name="Google Shape;105;p17"/>
          <p:cNvSpPr/>
          <p:nvPr/>
        </p:nvSpPr>
        <p:spPr>
          <a:xfrm>
            <a:off x="468630" y="2333625"/>
            <a:ext cx="4762500" cy="762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Problem &amp; Solution</a:t>
            </a:r>
            <a:endParaRPr sz="2100">
              <a:solidFill>
                <a:schemeClr val="dk1"/>
              </a:solidFill>
              <a:latin typeface="Calibri"/>
              <a:ea typeface="Calibri"/>
              <a:cs typeface="Calibri"/>
              <a:sym typeface="Calibri"/>
            </a:endParaRPr>
          </a:p>
        </p:txBody>
      </p:sp>
      <p:sp>
        <p:nvSpPr>
          <p:cNvPr id="106" name="Google Shape;106;p17"/>
          <p:cNvSpPr/>
          <p:nvPr/>
        </p:nvSpPr>
        <p:spPr>
          <a:xfrm>
            <a:off x="468630" y="3143250"/>
            <a:ext cx="4286250" cy="381000"/>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lang="en" sz="1400">
                <a:solidFill>
                  <a:srgbClr val="FFFFFF"/>
                </a:solidFill>
                <a:latin typeface="Liter"/>
                <a:ea typeface="Liter"/>
                <a:cs typeface="Liter"/>
                <a:sym typeface="Liter"/>
              </a:rPr>
              <a:t>Understanding the challenge and our approach</a:t>
            </a:r>
            <a:endParaRPr sz="1400">
              <a:solidFill>
                <a:schemeClr val="dk1"/>
              </a:solidFill>
              <a:latin typeface="Calibri"/>
              <a:ea typeface="Calibri"/>
              <a:cs typeface="Calibri"/>
              <a:sym typeface="Calibri"/>
            </a:endParaRPr>
          </a:p>
        </p:txBody>
      </p:sp>
      <p:sp>
        <p:nvSpPr>
          <p:cNvPr id="107" name="Google Shape;107;p17"/>
          <p:cNvSpPr/>
          <p:nvPr/>
        </p:nvSpPr>
        <p:spPr>
          <a:xfrm>
            <a:off x="468630" y="3619500"/>
            <a:ext cx="714375"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12" name="Shape 112"/>
        <p:cNvGrpSpPr/>
        <p:nvPr/>
      </p:nvGrpSpPr>
      <p:grpSpPr>
        <a:xfrm>
          <a:off x="0" y="0"/>
          <a:ext cx="0" cy="0"/>
          <a:chOff x="0" y="0"/>
          <a:chExt cx="0" cy="0"/>
        </a:xfrm>
      </p:grpSpPr>
      <p:sp>
        <p:nvSpPr>
          <p:cNvPr id="113" name="Google Shape;113;p18"/>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Problem Statement &amp; Business Use Case</a:t>
            </a:r>
            <a:endParaRPr sz="2100">
              <a:solidFill>
                <a:schemeClr val="dk1"/>
              </a:solidFill>
              <a:latin typeface="Calibri"/>
              <a:ea typeface="Calibri"/>
              <a:cs typeface="Calibri"/>
              <a:sym typeface="Calibri"/>
            </a:endParaRPr>
          </a:p>
        </p:txBody>
      </p:sp>
      <p:sp>
        <p:nvSpPr>
          <p:cNvPr id="114" name="Google Shape;114;p18"/>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5" name="Google Shape;115;p18"/>
          <p:cNvSpPr/>
          <p:nvPr/>
        </p:nvSpPr>
        <p:spPr>
          <a:xfrm>
            <a:off x="468630" y="1333500"/>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6" name="Google Shape;116;p18"/>
          <p:cNvSpPr/>
          <p:nvPr/>
        </p:nvSpPr>
        <p:spPr>
          <a:xfrm>
            <a:off x="642938" y="1285875"/>
            <a:ext cx="371475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Indian legal system generates millions of case documents; navigating this corpus is overwhelming for non-lawyers</a:t>
            </a:r>
            <a:endParaRPr sz="1100">
              <a:solidFill>
                <a:schemeClr val="dk1"/>
              </a:solidFill>
              <a:latin typeface="Calibri"/>
              <a:ea typeface="Calibri"/>
              <a:cs typeface="Calibri"/>
              <a:sym typeface="Calibri"/>
            </a:endParaRPr>
          </a:p>
        </p:txBody>
      </p:sp>
      <p:sp>
        <p:nvSpPr>
          <p:cNvPr id="117" name="Google Shape;117;p18"/>
          <p:cNvSpPr/>
          <p:nvPr/>
        </p:nvSpPr>
        <p:spPr>
          <a:xfrm>
            <a:off x="468630" y="1857375"/>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18" name="Google Shape;118;p18"/>
          <p:cNvSpPr/>
          <p:nvPr/>
        </p:nvSpPr>
        <p:spPr>
          <a:xfrm>
            <a:off x="642938" y="1809750"/>
            <a:ext cx="371475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No accessible tool exists for ordinary citizens to query Indian case law in plain language</a:t>
            </a:r>
            <a:endParaRPr sz="1100">
              <a:solidFill>
                <a:schemeClr val="dk1"/>
              </a:solidFill>
              <a:latin typeface="Calibri"/>
              <a:ea typeface="Calibri"/>
              <a:cs typeface="Calibri"/>
              <a:sym typeface="Calibri"/>
            </a:endParaRPr>
          </a:p>
        </p:txBody>
      </p:sp>
      <p:sp>
        <p:nvSpPr>
          <p:cNvPr id="119" name="Google Shape;119;p18"/>
          <p:cNvSpPr/>
          <p:nvPr/>
        </p:nvSpPr>
        <p:spPr>
          <a:xfrm>
            <a:off x="468630" y="2381250"/>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0" name="Google Shape;120;p18"/>
          <p:cNvSpPr/>
          <p:nvPr/>
        </p:nvSpPr>
        <p:spPr>
          <a:xfrm>
            <a:off x="642938" y="2333625"/>
            <a:ext cx="371475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Legal research is expensive, time-consuming, and requires specialized expertise most people lack</a:t>
            </a:r>
            <a:endParaRPr sz="1100">
              <a:solidFill>
                <a:schemeClr val="dk1"/>
              </a:solidFill>
              <a:latin typeface="Calibri"/>
              <a:ea typeface="Calibri"/>
              <a:cs typeface="Calibri"/>
              <a:sym typeface="Calibri"/>
            </a:endParaRPr>
          </a:p>
        </p:txBody>
      </p:sp>
      <p:sp>
        <p:nvSpPr>
          <p:cNvPr id="121" name="Google Shape;121;p18"/>
          <p:cNvSpPr/>
          <p:nvPr/>
        </p:nvSpPr>
        <p:spPr>
          <a:xfrm>
            <a:off x="468630" y="2905125"/>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2" name="Google Shape;122;p18"/>
          <p:cNvSpPr/>
          <p:nvPr/>
        </p:nvSpPr>
        <p:spPr>
          <a:xfrm>
            <a:off x="642938" y="2857500"/>
            <a:ext cx="371475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Target users: ordinary people researching cases, understanding judgments, asking about legal precedent</a:t>
            </a:r>
            <a:endParaRPr sz="1100">
              <a:solidFill>
                <a:schemeClr val="dk1"/>
              </a:solidFill>
              <a:latin typeface="Calibri"/>
              <a:ea typeface="Calibri"/>
              <a:cs typeface="Calibri"/>
              <a:sym typeface="Calibri"/>
            </a:endParaRPr>
          </a:p>
        </p:txBody>
      </p:sp>
      <p:sp>
        <p:nvSpPr>
          <p:cNvPr id="123" name="Google Shape;123;p18"/>
          <p:cNvSpPr/>
          <p:nvPr/>
        </p:nvSpPr>
        <p:spPr>
          <a:xfrm>
            <a:off x="468630" y="3429000"/>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4" name="Google Shape;124;p18"/>
          <p:cNvSpPr/>
          <p:nvPr/>
        </p:nvSpPr>
        <p:spPr>
          <a:xfrm>
            <a:off x="642938" y="3381375"/>
            <a:ext cx="3714750" cy="428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Business need: democratize access to legal information through an intuitive, trustworthy AI assistant</a:t>
            </a:r>
            <a:endParaRPr sz="1100">
              <a:solidFill>
                <a:schemeClr val="dk1"/>
              </a:solidFill>
              <a:latin typeface="Calibri"/>
              <a:ea typeface="Calibri"/>
              <a:cs typeface="Calibri"/>
              <a:sym typeface="Calibri"/>
            </a:endParaRPr>
          </a:p>
        </p:txBody>
      </p:sp>
      <p:sp>
        <p:nvSpPr>
          <p:cNvPr id="125" name="Google Shape;125;p18"/>
          <p:cNvSpPr/>
          <p:nvPr/>
        </p:nvSpPr>
        <p:spPr>
          <a:xfrm>
            <a:off x="4762500" y="1285875"/>
            <a:ext cx="4095750" cy="2571750"/>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26" name="Google Shape;126;p18"/>
          <p:cNvSpPr/>
          <p:nvPr/>
        </p:nvSpPr>
        <p:spPr>
          <a:xfrm>
            <a:off x="4953000" y="1428750"/>
            <a:ext cx="19050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THE CHALLENGE</a:t>
            </a:r>
            <a:endParaRPr sz="1500">
              <a:solidFill>
                <a:schemeClr val="dk1"/>
              </a:solidFill>
              <a:latin typeface="Calibri"/>
              <a:ea typeface="Calibri"/>
              <a:cs typeface="Calibri"/>
              <a:sym typeface="Calibri"/>
            </a:endParaRPr>
          </a:p>
        </p:txBody>
      </p:sp>
      <p:sp>
        <p:nvSpPr>
          <p:cNvPr id="127" name="Google Shape;127;p18"/>
          <p:cNvSpPr/>
          <p:nvPr/>
        </p:nvSpPr>
        <p:spPr>
          <a:xfrm>
            <a:off x="4953000" y="1809750"/>
            <a:ext cx="3714750" cy="4762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Millions of legal documents</a:t>
            </a:r>
            <a:endParaRPr sz="2100">
              <a:solidFill>
                <a:schemeClr val="dk1"/>
              </a:solidFill>
              <a:latin typeface="Calibri"/>
              <a:ea typeface="Calibri"/>
              <a:cs typeface="Calibri"/>
              <a:sym typeface="Calibri"/>
            </a:endParaRPr>
          </a:p>
        </p:txBody>
      </p:sp>
      <p:sp>
        <p:nvSpPr>
          <p:cNvPr id="128" name="Google Shape;128;p18"/>
          <p:cNvSpPr/>
          <p:nvPr/>
        </p:nvSpPr>
        <p:spPr>
          <a:xfrm>
            <a:off x="4953000" y="2381250"/>
            <a:ext cx="3714750" cy="71437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India's judicial system produces vast amounts of case law that remains inaccessible to the common citizen who needs it most.</a:t>
            </a:r>
            <a:endParaRPr sz="1100">
              <a:solidFill>
                <a:schemeClr val="dk1"/>
              </a:solidFill>
              <a:latin typeface="Calibri"/>
              <a:ea typeface="Calibri"/>
              <a:cs typeface="Calibri"/>
              <a:sym typeface="Calibri"/>
            </a:endParaRPr>
          </a:p>
        </p:txBody>
      </p:sp>
      <p:sp>
        <p:nvSpPr>
          <p:cNvPr id="129" name="Google Shape;129;p18"/>
          <p:cNvSpPr/>
          <p:nvPr/>
        </p:nvSpPr>
        <p:spPr>
          <a:xfrm>
            <a:off x="4953000" y="3238500"/>
            <a:ext cx="228600" cy="228600"/>
          </a:xfrm>
          <a:custGeom>
            <a:rect b="b" l="l" r="r" t="t"/>
            <a:pathLst>
              <a:path extrusionOk="0" h="609600" w="609600">
                <a:moveTo>
                  <a:pt x="365760" y="38100"/>
                </a:moveTo>
                <a:lnTo>
                  <a:pt x="487680" y="38100"/>
                </a:lnTo>
                <a:cubicBezTo>
                  <a:pt x="504539" y="38100"/>
                  <a:pt x="518160" y="55126"/>
                  <a:pt x="518160" y="76200"/>
                </a:cubicBezTo>
                <a:cubicBezTo>
                  <a:pt x="518160" y="97274"/>
                  <a:pt x="504539" y="114300"/>
                  <a:pt x="487680" y="114300"/>
                </a:cubicBezTo>
                <a:lnTo>
                  <a:pt x="379476" y="114300"/>
                </a:lnTo>
                <a:cubicBezTo>
                  <a:pt x="374523" y="145018"/>
                  <a:pt x="357664" y="170378"/>
                  <a:pt x="335280" y="182523"/>
                </a:cubicBezTo>
                <a:lnTo>
                  <a:pt x="335280" y="533400"/>
                </a:lnTo>
                <a:lnTo>
                  <a:pt x="487680" y="533400"/>
                </a:lnTo>
                <a:cubicBezTo>
                  <a:pt x="504539" y="533400"/>
                  <a:pt x="518160" y="550426"/>
                  <a:pt x="518160" y="571500"/>
                </a:cubicBezTo>
                <a:cubicBezTo>
                  <a:pt x="518160" y="592574"/>
                  <a:pt x="504539" y="609600"/>
                  <a:pt x="487680" y="609600"/>
                </a:cubicBezTo>
                <a:lnTo>
                  <a:pt x="121920" y="609600"/>
                </a:lnTo>
                <a:cubicBezTo>
                  <a:pt x="105061" y="609600"/>
                  <a:pt x="91440" y="592574"/>
                  <a:pt x="91440" y="571500"/>
                </a:cubicBezTo>
                <a:cubicBezTo>
                  <a:pt x="91440" y="550426"/>
                  <a:pt x="105061" y="533400"/>
                  <a:pt x="121920" y="533400"/>
                </a:cubicBezTo>
                <a:lnTo>
                  <a:pt x="274320" y="533400"/>
                </a:lnTo>
                <a:lnTo>
                  <a:pt x="274320" y="182523"/>
                </a:lnTo>
                <a:cubicBezTo>
                  <a:pt x="251936" y="170259"/>
                  <a:pt x="235077" y="144899"/>
                  <a:pt x="230124" y="114300"/>
                </a:cubicBezTo>
                <a:lnTo>
                  <a:pt x="121920" y="114300"/>
                </a:lnTo>
                <a:cubicBezTo>
                  <a:pt x="105061" y="114300"/>
                  <a:pt x="91440" y="97274"/>
                  <a:pt x="91440" y="76200"/>
                </a:cubicBezTo>
                <a:cubicBezTo>
                  <a:pt x="91440" y="55126"/>
                  <a:pt x="105061" y="38100"/>
                  <a:pt x="121920" y="38100"/>
                </a:cubicBezTo>
                <a:lnTo>
                  <a:pt x="243840" y="38100"/>
                </a:lnTo>
                <a:cubicBezTo>
                  <a:pt x="257747" y="15002"/>
                  <a:pt x="279845" y="0"/>
                  <a:pt x="304800" y="0"/>
                </a:cubicBezTo>
                <a:cubicBezTo>
                  <a:pt x="329756" y="0"/>
                  <a:pt x="351854" y="15002"/>
                  <a:pt x="365760" y="38100"/>
                </a:cubicBezTo>
                <a:close/>
                <a:moveTo>
                  <a:pt x="418719" y="381000"/>
                </a:moveTo>
                <a:lnTo>
                  <a:pt x="556641" y="381000"/>
                </a:lnTo>
                <a:lnTo>
                  <a:pt x="487680" y="233124"/>
                </a:lnTo>
                <a:lnTo>
                  <a:pt x="418719" y="381000"/>
                </a:lnTo>
                <a:close/>
                <a:moveTo>
                  <a:pt x="487680" y="495300"/>
                </a:moveTo>
                <a:cubicBezTo>
                  <a:pt x="427768" y="495300"/>
                  <a:pt x="377952" y="454819"/>
                  <a:pt x="367665" y="401360"/>
                </a:cubicBezTo>
                <a:cubicBezTo>
                  <a:pt x="365188" y="388263"/>
                  <a:pt x="368618" y="374809"/>
                  <a:pt x="374047" y="363141"/>
                </a:cubicBezTo>
                <a:lnTo>
                  <a:pt x="464725" y="168831"/>
                </a:lnTo>
                <a:cubicBezTo>
                  <a:pt x="469487" y="158591"/>
                  <a:pt x="478250" y="152400"/>
                  <a:pt x="487680" y="152400"/>
                </a:cubicBezTo>
                <a:cubicBezTo>
                  <a:pt x="497110" y="152400"/>
                  <a:pt x="505873" y="158710"/>
                  <a:pt x="510635" y="168831"/>
                </a:cubicBezTo>
                <a:lnTo>
                  <a:pt x="601313" y="363141"/>
                </a:lnTo>
                <a:cubicBezTo>
                  <a:pt x="606743" y="374809"/>
                  <a:pt x="610172" y="388263"/>
                  <a:pt x="607695" y="401360"/>
                </a:cubicBezTo>
                <a:cubicBezTo>
                  <a:pt x="597408" y="454700"/>
                  <a:pt x="547592" y="495300"/>
                  <a:pt x="487680" y="495300"/>
                </a:cubicBezTo>
                <a:close/>
                <a:moveTo>
                  <a:pt x="120777" y="233124"/>
                </a:moveTo>
                <a:lnTo>
                  <a:pt x="51816" y="381000"/>
                </a:lnTo>
                <a:lnTo>
                  <a:pt x="189833" y="381000"/>
                </a:lnTo>
                <a:lnTo>
                  <a:pt x="120777" y="233124"/>
                </a:lnTo>
                <a:close/>
                <a:moveTo>
                  <a:pt x="857" y="401360"/>
                </a:moveTo>
                <a:cubicBezTo>
                  <a:pt x="-1619" y="388263"/>
                  <a:pt x="1810" y="374809"/>
                  <a:pt x="7239" y="363141"/>
                </a:cubicBezTo>
                <a:lnTo>
                  <a:pt x="97917" y="168831"/>
                </a:lnTo>
                <a:cubicBezTo>
                  <a:pt x="102680" y="158591"/>
                  <a:pt x="111443" y="152400"/>
                  <a:pt x="120872" y="152400"/>
                </a:cubicBezTo>
                <a:cubicBezTo>
                  <a:pt x="130302" y="152400"/>
                  <a:pt x="139065" y="158710"/>
                  <a:pt x="143828" y="168831"/>
                </a:cubicBezTo>
                <a:lnTo>
                  <a:pt x="234505" y="363141"/>
                </a:lnTo>
                <a:cubicBezTo>
                  <a:pt x="239935" y="374809"/>
                  <a:pt x="243364" y="388263"/>
                  <a:pt x="240887" y="401360"/>
                </a:cubicBezTo>
                <a:cubicBezTo>
                  <a:pt x="230600" y="454700"/>
                  <a:pt x="180785" y="495300"/>
                  <a:pt x="120872" y="495300"/>
                </a:cubicBezTo>
                <a:cubicBezTo>
                  <a:pt x="60960" y="495300"/>
                  <a:pt x="11144" y="454819"/>
                  <a:pt x="857" y="401360"/>
                </a:cubicBezTo>
                <a:close/>
              </a:path>
            </a:pathLst>
          </a:cu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34" name="Shape 134"/>
        <p:cNvGrpSpPr/>
        <p:nvPr/>
      </p:nvGrpSpPr>
      <p:grpSpPr>
        <a:xfrm>
          <a:off x="0" y="0"/>
          <a:ext cx="0" cy="0"/>
          <a:chOff x="0" y="0"/>
          <a:chExt cx="0" cy="0"/>
        </a:xfrm>
      </p:grpSpPr>
      <p:sp>
        <p:nvSpPr>
          <p:cNvPr id="135" name="Google Shape;135;p19"/>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Solution Approach</a:t>
            </a:r>
            <a:endParaRPr sz="2100">
              <a:solidFill>
                <a:schemeClr val="dk1"/>
              </a:solidFill>
              <a:latin typeface="Calibri"/>
              <a:ea typeface="Calibri"/>
              <a:cs typeface="Calibri"/>
              <a:sym typeface="Calibri"/>
            </a:endParaRPr>
          </a:p>
        </p:txBody>
      </p:sp>
      <p:sp>
        <p:nvSpPr>
          <p:cNvPr id="136" name="Google Shape;136;p19"/>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7" name="Google Shape;137;p19"/>
          <p:cNvSpPr/>
          <p:nvPr/>
        </p:nvSpPr>
        <p:spPr>
          <a:xfrm>
            <a:off x="468630" y="1333500"/>
            <a:ext cx="2571750" cy="176212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8" name="Google Shape;138;p19"/>
          <p:cNvSpPr/>
          <p:nvPr/>
        </p:nvSpPr>
        <p:spPr>
          <a:xfrm>
            <a:off x="657225" y="1524000"/>
            <a:ext cx="266700" cy="266700"/>
          </a:xfrm>
          <a:custGeom>
            <a:rect b="b" l="l" r="r" t="t"/>
            <a:pathLst>
              <a:path extrusionOk="0" h="711200" w="711200">
                <a:moveTo>
                  <a:pt x="474133" y="200025"/>
                </a:moveTo>
                <a:cubicBezTo>
                  <a:pt x="474133" y="335042"/>
                  <a:pt x="367947" y="444500"/>
                  <a:pt x="237067" y="444500"/>
                </a:cubicBezTo>
                <a:cubicBezTo>
                  <a:pt x="204100" y="444500"/>
                  <a:pt x="172738" y="437555"/>
                  <a:pt x="144216" y="425053"/>
                </a:cubicBezTo>
                <a:lnTo>
                  <a:pt x="43462" y="485061"/>
                </a:lnTo>
                <a:cubicBezTo>
                  <a:pt x="31979" y="491867"/>
                  <a:pt x="17903" y="489506"/>
                  <a:pt x="8643" y="479227"/>
                </a:cubicBezTo>
                <a:cubicBezTo>
                  <a:pt x="-617" y="468948"/>
                  <a:pt x="-2716" y="452973"/>
                  <a:pt x="3457" y="440055"/>
                </a:cubicBezTo>
                <a:lnTo>
                  <a:pt x="47413" y="346710"/>
                </a:lnTo>
                <a:cubicBezTo>
                  <a:pt x="17657" y="305872"/>
                  <a:pt x="0" y="255032"/>
                  <a:pt x="0" y="200025"/>
                </a:cubicBezTo>
                <a:cubicBezTo>
                  <a:pt x="0" y="65008"/>
                  <a:pt x="106186" y="-44450"/>
                  <a:pt x="237067" y="-44450"/>
                </a:cubicBezTo>
                <a:cubicBezTo>
                  <a:pt x="367947" y="-44450"/>
                  <a:pt x="474133" y="65008"/>
                  <a:pt x="474133" y="200025"/>
                </a:cubicBezTo>
                <a:close/>
                <a:moveTo>
                  <a:pt x="474133" y="711200"/>
                </a:moveTo>
                <a:cubicBezTo>
                  <a:pt x="357946" y="711200"/>
                  <a:pt x="261267" y="624939"/>
                  <a:pt x="241018" y="511175"/>
                </a:cubicBezTo>
                <a:cubicBezTo>
                  <a:pt x="389184" y="509091"/>
                  <a:pt x="517966" y="390465"/>
                  <a:pt x="532165" y="229612"/>
                </a:cubicBezTo>
                <a:cubicBezTo>
                  <a:pt x="635018" y="256282"/>
                  <a:pt x="711200" y="352266"/>
                  <a:pt x="711200" y="466725"/>
                </a:cubicBezTo>
                <a:cubicBezTo>
                  <a:pt x="711200" y="521732"/>
                  <a:pt x="693543" y="572572"/>
                  <a:pt x="663787" y="613410"/>
                </a:cubicBezTo>
                <a:lnTo>
                  <a:pt x="707743" y="706755"/>
                </a:lnTo>
                <a:cubicBezTo>
                  <a:pt x="713793" y="719673"/>
                  <a:pt x="711694" y="735509"/>
                  <a:pt x="702557" y="745927"/>
                </a:cubicBezTo>
                <a:cubicBezTo>
                  <a:pt x="693420" y="756345"/>
                  <a:pt x="679221" y="758706"/>
                  <a:pt x="667738" y="751761"/>
                </a:cubicBezTo>
                <a:lnTo>
                  <a:pt x="566984" y="691753"/>
                </a:lnTo>
                <a:cubicBezTo>
                  <a:pt x="538462" y="704255"/>
                  <a:pt x="507100" y="711200"/>
                  <a:pt x="474133" y="711200"/>
                </a:cubicBezTo>
                <a:close/>
              </a:path>
            </a:pathLst>
          </a:cu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39" name="Google Shape;139;p19"/>
          <p:cNvSpPr/>
          <p:nvPr/>
        </p:nvSpPr>
        <p:spPr>
          <a:xfrm>
            <a:off x="657225" y="1905000"/>
            <a:ext cx="219075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Ask Questions</a:t>
            </a:r>
            <a:endParaRPr sz="1500">
              <a:solidFill>
                <a:schemeClr val="dk1"/>
              </a:solidFill>
              <a:latin typeface="Calibri"/>
              <a:ea typeface="Calibri"/>
              <a:cs typeface="Calibri"/>
              <a:sym typeface="Calibri"/>
            </a:endParaRPr>
          </a:p>
        </p:txBody>
      </p:sp>
      <p:sp>
        <p:nvSpPr>
          <p:cNvPr id="140" name="Google Shape;140;p19"/>
          <p:cNvSpPr/>
          <p:nvPr/>
        </p:nvSpPr>
        <p:spPr>
          <a:xfrm>
            <a:off x="657225" y="2214563"/>
            <a:ext cx="2190750" cy="809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Query the indexed Indian legal corpus in plain language. Get answers grounded in actual case law documents.</a:t>
            </a:r>
            <a:endParaRPr sz="1100">
              <a:solidFill>
                <a:schemeClr val="dk1"/>
              </a:solidFill>
              <a:latin typeface="Calibri"/>
              <a:ea typeface="Calibri"/>
              <a:cs typeface="Calibri"/>
              <a:sym typeface="Calibri"/>
            </a:endParaRPr>
          </a:p>
        </p:txBody>
      </p:sp>
      <p:sp>
        <p:nvSpPr>
          <p:cNvPr id="141" name="Google Shape;141;p19"/>
          <p:cNvSpPr/>
          <p:nvPr/>
        </p:nvSpPr>
        <p:spPr>
          <a:xfrm>
            <a:off x="3276600" y="1333500"/>
            <a:ext cx="2571750" cy="176212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42" name="Google Shape;142;p19"/>
          <p:cNvSpPr/>
          <p:nvPr/>
        </p:nvSpPr>
        <p:spPr>
          <a:xfrm>
            <a:off x="3467100" y="1524000"/>
            <a:ext cx="266700" cy="266700"/>
          </a:xfrm>
          <a:custGeom>
            <a:rect b="b" l="l" r="r" t="t"/>
            <a:pathLst>
              <a:path extrusionOk="0" h="711200" w="711200">
                <a:moveTo>
                  <a:pt x="0" y="88900"/>
                </a:moveTo>
                <a:cubicBezTo>
                  <a:pt x="0" y="39866"/>
                  <a:pt x="53155" y="0"/>
                  <a:pt x="118533" y="0"/>
                </a:cubicBezTo>
                <a:lnTo>
                  <a:pt x="395420" y="0"/>
                </a:lnTo>
                <a:cubicBezTo>
                  <a:pt x="426905" y="0"/>
                  <a:pt x="457094" y="9307"/>
                  <a:pt x="479319" y="25975"/>
                </a:cubicBezTo>
                <a:lnTo>
                  <a:pt x="676566" y="174050"/>
                </a:lnTo>
                <a:cubicBezTo>
                  <a:pt x="698791" y="190718"/>
                  <a:pt x="711200" y="213360"/>
                  <a:pt x="711200" y="236974"/>
                </a:cubicBezTo>
                <a:lnTo>
                  <a:pt x="711200" y="622300"/>
                </a:lnTo>
                <a:cubicBezTo>
                  <a:pt x="711200" y="671334"/>
                  <a:pt x="658045" y="711200"/>
                  <a:pt x="592667" y="711200"/>
                </a:cubicBezTo>
                <a:lnTo>
                  <a:pt x="118533" y="711200"/>
                </a:lnTo>
                <a:cubicBezTo>
                  <a:pt x="53155" y="711200"/>
                  <a:pt x="0" y="671334"/>
                  <a:pt x="0" y="622300"/>
                </a:cubicBezTo>
                <a:lnTo>
                  <a:pt x="0" y="88900"/>
                </a:lnTo>
                <a:close/>
                <a:moveTo>
                  <a:pt x="385233" y="81260"/>
                </a:moveTo>
                <a:lnTo>
                  <a:pt x="385233" y="211138"/>
                </a:lnTo>
                <a:cubicBezTo>
                  <a:pt x="385233" y="229612"/>
                  <a:pt x="405051" y="244475"/>
                  <a:pt x="429683" y="244475"/>
                </a:cubicBezTo>
                <a:lnTo>
                  <a:pt x="602853" y="244475"/>
                </a:lnTo>
                <a:lnTo>
                  <a:pt x="385233" y="81260"/>
                </a:lnTo>
                <a:close/>
                <a:moveTo>
                  <a:pt x="387085" y="365323"/>
                </a:moveTo>
                <a:cubicBezTo>
                  <a:pt x="369676" y="352266"/>
                  <a:pt x="341524" y="352266"/>
                  <a:pt x="324300" y="365323"/>
                </a:cubicBezTo>
                <a:lnTo>
                  <a:pt x="205766" y="454223"/>
                </a:lnTo>
                <a:cubicBezTo>
                  <a:pt x="188357" y="467281"/>
                  <a:pt x="188357" y="488394"/>
                  <a:pt x="205766" y="501313"/>
                </a:cubicBezTo>
                <a:cubicBezTo>
                  <a:pt x="223176" y="514231"/>
                  <a:pt x="251328" y="514370"/>
                  <a:pt x="268552" y="501313"/>
                </a:cubicBezTo>
                <a:lnTo>
                  <a:pt x="311150" y="469364"/>
                </a:lnTo>
                <a:lnTo>
                  <a:pt x="311150" y="588963"/>
                </a:lnTo>
                <a:cubicBezTo>
                  <a:pt x="311150" y="607437"/>
                  <a:pt x="330967" y="622300"/>
                  <a:pt x="355600" y="622300"/>
                </a:cubicBezTo>
                <a:cubicBezTo>
                  <a:pt x="380233" y="622300"/>
                  <a:pt x="400050" y="607437"/>
                  <a:pt x="400050" y="588963"/>
                </a:cubicBezTo>
                <a:lnTo>
                  <a:pt x="400050" y="469364"/>
                </a:lnTo>
                <a:lnTo>
                  <a:pt x="442648" y="501313"/>
                </a:lnTo>
                <a:cubicBezTo>
                  <a:pt x="460058" y="514370"/>
                  <a:pt x="488209" y="514370"/>
                  <a:pt x="505434" y="501313"/>
                </a:cubicBezTo>
                <a:cubicBezTo>
                  <a:pt x="522658" y="488255"/>
                  <a:pt x="522843" y="467142"/>
                  <a:pt x="505434" y="454223"/>
                </a:cubicBezTo>
                <a:lnTo>
                  <a:pt x="386900" y="365323"/>
                </a:lnTo>
                <a:close/>
              </a:path>
            </a:pathLst>
          </a:cu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43" name="Google Shape;143;p19"/>
          <p:cNvSpPr/>
          <p:nvPr/>
        </p:nvSpPr>
        <p:spPr>
          <a:xfrm>
            <a:off x="3467100" y="1905000"/>
            <a:ext cx="219075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Upload Documents</a:t>
            </a:r>
            <a:endParaRPr sz="1500">
              <a:solidFill>
                <a:schemeClr val="dk1"/>
              </a:solidFill>
              <a:latin typeface="Calibri"/>
              <a:ea typeface="Calibri"/>
              <a:cs typeface="Calibri"/>
              <a:sym typeface="Calibri"/>
            </a:endParaRPr>
          </a:p>
        </p:txBody>
      </p:sp>
      <p:sp>
        <p:nvSpPr>
          <p:cNvPr id="144" name="Google Shape;144;p19"/>
          <p:cNvSpPr/>
          <p:nvPr/>
        </p:nvSpPr>
        <p:spPr>
          <a:xfrm>
            <a:off x="3467100" y="2214563"/>
            <a:ext cx="2190750" cy="809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Upload your own PDF or TXT legal documents for summarization and session-scoped follow-up questions.</a:t>
            </a:r>
            <a:endParaRPr sz="1100">
              <a:solidFill>
                <a:schemeClr val="dk1"/>
              </a:solidFill>
              <a:latin typeface="Calibri"/>
              <a:ea typeface="Calibri"/>
              <a:cs typeface="Calibri"/>
              <a:sym typeface="Calibri"/>
            </a:endParaRPr>
          </a:p>
        </p:txBody>
      </p:sp>
      <p:sp>
        <p:nvSpPr>
          <p:cNvPr id="145" name="Google Shape;145;p19"/>
          <p:cNvSpPr/>
          <p:nvPr/>
        </p:nvSpPr>
        <p:spPr>
          <a:xfrm>
            <a:off x="6086475" y="1333500"/>
            <a:ext cx="2571750" cy="176212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46" name="Google Shape;146;p19"/>
          <p:cNvSpPr/>
          <p:nvPr/>
        </p:nvSpPr>
        <p:spPr>
          <a:xfrm>
            <a:off x="6276975" y="1524000"/>
            <a:ext cx="266700" cy="266700"/>
          </a:xfrm>
          <a:custGeom>
            <a:rect b="b" l="l" r="r" t="t"/>
            <a:pathLst>
              <a:path extrusionOk="0" h="711200" w="711200">
                <a:moveTo>
                  <a:pt x="355600" y="0"/>
                </a:moveTo>
                <a:cubicBezTo>
                  <a:pt x="361990" y="0"/>
                  <a:pt x="368379" y="1389"/>
                  <a:pt x="374213" y="4028"/>
                </a:cubicBezTo>
                <a:lnTo>
                  <a:pt x="635913" y="115014"/>
                </a:lnTo>
                <a:cubicBezTo>
                  <a:pt x="666472" y="127933"/>
                  <a:pt x="689253" y="158075"/>
                  <a:pt x="689114" y="194469"/>
                </a:cubicBezTo>
                <a:cubicBezTo>
                  <a:pt x="688419" y="332264"/>
                  <a:pt x="631746" y="584379"/>
                  <a:pt x="392410" y="698976"/>
                </a:cubicBezTo>
                <a:cubicBezTo>
                  <a:pt x="369213" y="710089"/>
                  <a:pt x="342265" y="710089"/>
                  <a:pt x="319068" y="698976"/>
                </a:cubicBezTo>
                <a:cubicBezTo>
                  <a:pt x="79593" y="584379"/>
                  <a:pt x="23058" y="332264"/>
                  <a:pt x="22364" y="194469"/>
                </a:cubicBezTo>
                <a:cubicBezTo>
                  <a:pt x="22225" y="158075"/>
                  <a:pt x="45006" y="127933"/>
                  <a:pt x="75565" y="115014"/>
                </a:cubicBezTo>
                <a:lnTo>
                  <a:pt x="337125" y="4028"/>
                </a:lnTo>
                <a:cubicBezTo>
                  <a:pt x="342960" y="1389"/>
                  <a:pt x="349210" y="0"/>
                  <a:pt x="355600" y="0"/>
                </a:cubicBezTo>
                <a:close/>
                <a:moveTo>
                  <a:pt x="355600" y="92789"/>
                </a:moveTo>
                <a:lnTo>
                  <a:pt x="355600" y="617994"/>
                </a:lnTo>
                <a:cubicBezTo>
                  <a:pt x="547291" y="525205"/>
                  <a:pt x="598825" y="319623"/>
                  <a:pt x="600075" y="196552"/>
                </a:cubicBezTo>
                <a:lnTo>
                  <a:pt x="355600" y="92928"/>
                </a:lnTo>
                <a:lnTo>
                  <a:pt x="355600" y="92928"/>
                </a:lnTo>
                <a:close/>
              </a:path>
            </a:pathLst>
          </a:cu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47" name="Google Shape;147;p19"/>
          <p:cNvSpPr/>
          <p:nvPr/>
        </p:nvSpPr>
        <p:spPr>
          <a:xfrm>
            <a:off x="6276975" y="1905000"/>
            <a:ext cx="219075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FFFFFF"/>
                </a:solidFill>
                <a:latin typeface="Liter"/>
                <a:ea typeface="Liter"/>
                <a:cs typeface="Liter"/>
                <a:sym typeface="Liter"/>
              </a:rPr>
              <a:t>Trust &amp; Safety</a:t>
            </a:r>
            <a:endParaRPr sz="1500">
              <a:solidFill>
                <a:schemeClr val="dk1"/>
              </a:solidFill>
              <a:latin typeface="Calibri"/>
              <a:ea typeface="Calibri"/>
              <a:cs typeface="Calibri"/>
              <a:sym typeface="Calibri"/>
            </a:endParaRPr>
          </a:p>
        </p:txBody>
      </p:sp>
      <p:sp>
        <p:nvSpPr>
          <p:cNvPr id="148" name="Google Shape;148;p19"/>
          <p:cNvSpPr/>
          <p:nvPr/>
        </p:nvSpPr>
        <p:spPr>
          <a:xfrm>
            <a:off x="6276975" y="2214563"/>
            <a:ext cx="2190750" cy="8096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Answers only from provided context. Clear out-of-scope messaging. No fabricated information. No technical jargon.</a:t>
            </a:r>
            <a:endParaRPr sz="1100">
              <a:solidFill>
                <a:schemeClr val="dk1"/>
              </a:solidFill>
              <a:latin typeface="Calibri"/>
              <a:ea typeface="Calibri"/>
              <a:cs typeface="Calibri"/>
              <a:sym typeface="Calibri"/>
            </a:endParaRPr>
          </a:p>
        </p:txBody>
      </p:sp>
      <p:sp>
        <p:nvSpPr>
          <p:cNvPr id="149" name="Google Shape;149;p19"/>
          <p:cNvSpPr/>
          <p:nvPr/>
        </p:nvSpPr>
        <p:spPr>
          <a:xfrm>
            <a:off x="468630" y="3238500"/>
            <a:ext cx="8191500" cy="9525"/>
          </a:xfrm>
          <a:prstGeom prst="rect">
            <a:avLst/>
          </a:prstGeom>
          <a:solidFill>
            <a:srgbClr val="44444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50" name="Google Shape;150;p19"/>
          <p:cNvSpPr/>
          <p:nvPr/>
        </p:nvSpPr>
        <p:spPr>
          <a:xfrm>
            <a:off x="468630" y="3429000"/>
            <a:ext cx="8191500" cy="952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lang="en" sz="1200">
                <a:solidFill>
                  <a:srgbClr val="FFFFFF"/>
                </a:solidFill>
                <a:latin typeface="Liter"/>
                <a:ea typeface="Liter"/>
                <a:cs typeface="Liter"/>
                <a:sym typeface="Liter"/>
              </a:rPr>
              <a:t>Designed for </a:t>
            </a:r>
            <a:r>
              <a:rPr b="1" lang="en" sz="1200">
                <a:solidFill>
                  <a:srgbClr val="7EC0DA"/>
                </a:solidFill>
                <a:latin typeface="Liter"/>
                <a:ea typeface="Liter"/>
                <a:cs typeface="Liter"/>
                <a:sym typeface="Liter"/>
              </a:rPr>
              <a:t>non-technical users</a:t>
            </a:r>
            <a:r>
              <a:rPr lang="en" sz="1200">
                <a:solidFill>
                  <a:srgbClr val="FFFFFF"/>
                </a:solidFill>
                <a:latin typeface="Liter"/>
                <a:ea typeface="Liter"/>
                <a:cs typeface="Liter"/>
                <a:sym typeface="Liter"/>
              </a:rPr>
              <a:t> who need reliable legal information. The interface follows BigLaw firm aesthetics: calm, professional, and credible. Every visual choice prioritizes trust over decoration.</a:t>
            </a:r>
            <a:endParaRPr sz="1200">
              <a:solidFill>
                <a:schemeClr val="dk1"/>
              </a:solidFill>
              <a:latin typeface="Calibri"/>
              <a:ea typeface="Calibri"/>
              <a:cs typeface="Calibri"/>
              <a:sym typeface="Calibri"/>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55" name="Shape 155"/>
        <p:cNvGrpSpPr/>
        <p:nvPr/>
      </p:nvGrpSpPr>
      <p:grpSpPr>
        <a:xfrm>
          <a:off x="0" y="0"/>
          <a:ext cx="0" cy="0"/>
          <a:chOff x="0" y="0"/>
          <a:chExt cx="0" cy="0"/>
        </a:xfrm>
      </p:grpSpPr>
      <p:sp>
        <p:nvSpPr>
          <p:cNvPr id="156" name="Google Shape;156;p20"/>
          <p:cNvSpPr/>
          <p:nvPr/>
        </p:nvSpPr>
        <p:spPr>
          <a:xfrm>
            <a:off x="5943600" y="0"/>
            <a:ext cx="3200400" cy="5143500"/>
          </a:xfrm>
          <a:prstGeom prst="rect">
            <a:avLst/>
          </a:prstGeom>
          <a:solidFill>
            <a:srgbClr val="292929">
              <a:alpha val="37647"/>
            </a:srgbClr>
          </a:solidFill>
          <a:ln cap="flat" cmpd="sng" w="12700">
            <a:solidFill>
              <a:srgbClr val="FFFFFF">
                <a:alpha val="0"/>
              </a:srgbClr>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https://images.unsplash.com/photo-1451187580459-43490279c0fa?w=1200" id="157" name="Google Shape;157;p20"/>
          <p:cNvPicPr preferRelativeResize="0"/>
          <p:nvPr/>
        </p:nvPicPr>
        <p:blipFill rotWithShape="1">
          <a:blip r:embed="rId3">
            <a:alphaModFix/>
          </a:blip>
          <a:srcRect b="0" l="0" r="0" t="0"/>
          <a:stretch/>
        </p:blipFill>
        <p:spPr>
          <a:xfrm>
            <a:off x="5943600" y="0"/>
            <a:ext cx="3200400" cy="5143500"/>
          </a:xfrm>
          <a:prstGeom prst="rect">
            <a:avLst/>
          </a:prstGeom>
          <a:noFill/>
          <a:ln>
            <a:noFill/>
          </a:ln>
        </p:spPr>
      </p:pic>
      <p:sp>
        <p:nvSpPr>
          <p:cNvPr id="158" name="Google Shape;158;p20"/>
          <p:cNvSpPr/>
          <p:nvPr/>
        </p:nvSpPr>
        <p:spPr>
          <a:xfrm>
            <a:off x="468630" y="1666875"/>
            <a:ext cx="1905000" cy="595313"/>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7EC0DA"/>
                </a:solidFill>
                <a:latin typeface="Liter"/>
                <a:ea typeface="Liter"/>
                <a:cs typeface="Liter"/>
                <a:sym typeface="Liter"/>
              </a:rPr>
              <a:t>02</a:t>
            </a:r>
            <a:endParaRPr sz="3700">
              <a:solidFill>
                <a:schemeClr val="dk1"/>
              </a:solidFill>
              <a:latin typeface="Calibri"/>
              <a:ea typeface="Calibri"/>
              <a:cs typeface="Calibri"/>
              <a:sym typeface="Calibri"/>
            </a:endParaRPr>
          </a:p>
        </p:txBody>
      </p:sp>
      <p:sp>
        <p:nvSpPr>
          <p:cNvPr id="159" name="Google Shape;159;p20"/>
          <p:cNvSpPr/>
          <p:nvPr/>
        </p:nvSpPr>
        <p:spPr>
          <a:xfrm>
            <a:off x="468630" y="2333625"/>
            <a:ext cx="4762500" cy="762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Architecture &amp; Pipeline</a:t>
            </a:r>
            <a:endParaRPr sz="2100">
              <a:solidFill>
                <a:schemeClr val="dk1"/>
              </a:solidFill>
              <a:latin typeface="Calibri"/>
              <a:ea typeface="Calibri"/>
              <a:cs typeface="Calibri"/>
              <a:sym typeface="Calibri"/>
            </a:endParaRPr>
          </a:p>
        </p:txBody>
      </p:sp>
      <p:sp>
        <p:nvSpPr>
          <p:cNvPr id="160" name="Google Shape;160;p20"/>
          <p:cNvSpPr/>
          <p:nvPr/>
        </p:nvSpPr>
        <p:spPr>
          <a:xfrm>
            <a:off x="468630" y="3143250"/>
            <a:ext cx="4286250" cy="381000"/>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lang="en" sz="1400">
                <a:solidFill>
                  <a:srgbClr val="FFFFFF"/>
                </a:solidFill>
                <a:latin typeface="Liter"/>
                <a:ea typeface="Liter"/>
                <a:cs typeface="Liter"/>
                <a:sym typeface="Liter"/>
              </a:rPr>
              <a:t>System design and data flow</a:t>
            </a:r>
            <a:endParaRPr sz="1400">
              <a:solidFill>
                <a:schemeClr val="dk1"/>
              </a:solidFill>
              <a:latin typeface="Calibri"/>
              <a:ea typeface="Calibri"/>
              <a:cs typeface="Calibri"/>
              <a:sym typeface="Calibri"/>
            </a:endParaRPr>
          </a:p>
        </p:txBody>
      </p:sp>
      <p:sp>
        <p:nvSpPr>
          <p:cNvPr id="161" name="Google Shape;161;p20"/>
          <p:cNvSpPr/>
          <p:nvPr/>
        </p:nvSpPr>
        <p:spPr>
          <a:xfrm>
            <a:off x="468630" y="3619500"/>
            <a:ext cx="714375"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66" name="Shape 166"/>
        <p:cNvGrpSpPr/>
        <p:nvPr/>
      </p:nvGrpSpPr>
      <p:grpSpPr>
        <a:xfrm>
          <a:off x="0" y="0"/>
          <a:ext cx="0" cy="0"/>
          <a:chOff x="0" y="0"/>
          <a:chExt cx="0" cy="0"/>
        </a:xfrm>
      </p:grpSpPr>
      <p:sp>
        <p:nvSpPr>
          <p:cNvPr id="167" name="Google Shape;167;p21"/>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System Architecture &amp; Workflow</a:t>
            </a:r>
            <a:endParaRPr sz="2100">
              <a:solidFill>
                <a:schemeClr val="dk1"/>
              </a:solidFill>
              <a:latin typeface="Calibri"/>
              <a:ea typeface="Calibri"/>
              <a:cs typeface="Calibri"/>
              <a:sym typeface="Calibri"/>
            </a:endParaRPr>
          </a:p>
        </p:txBody>
      </p:sp>
      <p:sp>
        <p:nvSpPr>
          <p:cNvPr id="168" name="Google Shape;168;p21"/>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69" name="Google Shape;169;p21"/>
          <p:cNvSpPr/>
          <p:nvPr/>
        </p:nvSpPr>
        <p:spPr>
          <a:xfrm>
            <a:off x="466725" y="1333500"/>
            <a:ext cx="1333500" cy="2857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70" name="Google Shape;170;p21"/>
          <p:cNvSpPr/>
          <p:nvPr/>
        </p:nvSpPr>
        <p:spPr>
          <a:xfrm>
            <a:off x="466725" y="1333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292929"/>
                </a:solidFill>
                <a:latin typeface="Liter"/>
                <a:ea typeface="Liter"/>
                <a:cs typeface="Liter"/>
                <a:sym typeface="Liter"/>
              </a:rPr>
              <a:t>Frontend</a:t>
            </a:r>
            <a:endParaRPr sz="1000">
              <a:solidFill>
                <a:schemeClr val="dk1"/>
              </a:solidFill>
              <a:latin typeface="Calibri"/>
              <a:ea typeface="Calibri"/>
              <a:cs typeface="Calibri"/>
              <a:sym typeface="Calibri"/>
            </a:endParaRPr>
          </a:p>
        </p:txBody>
      </p:sp>
      <p:sp>
        <p:nvSpPr>
          <p:cNvPr id="171" name="Google Shape;171;p21"/>
          <p:cNvSpPr/>
          <p:nvPr/>
        </p:nvSpPr>
        <p:spPr>
          <a:xfrm>
            <a:off x="466725" y="1666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HTML/CSS/JS</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BigLaw UI Design</a:t>
            </a:r>
            <a:endParaRPr sz="900">
              <a:solidFill>
                <a:schemeClr val="lt1"/>
              </a:solidFill>
              <a:latin typeface="Calibri"/>
              <a:ea typeface="Calibri"/>
              <a:cs typeface="Calibri"/>
              <a:sym typeface="Calibri"/>
            </a:endParaRPr>
          </a:p>
        </p:txBody>
      </p:sp>
      <p:cxnSp>
        <p:nvCxnSpPr>
          <p:cNvPr id="172" name="Google Shape;172;p21"/>
          <p:cNvCxnSpPr/>
          <p:nvPr/>
        </p:nvCxnSpPr>
        <p:spPr>
          <a:xfrm>
            <a:off x="1065133" y="2238375"/>
            <a:ext cx="0" cy="190500"/>
          </a:xfrm>
          <a:prstGeom prst="straightConnector1">
            <a:avLst/>
          </a:prstGeom>
          <a:noFill/>
          <a:ln cap="flat" cmpd="sng" w="25400">
            <a:solidFill>
              <a:srgbClr val="7EC0DA"/>
            </a:solidFill>
            <a:prstDash val="solid"/>
            <a:round/>
            <a:headEnd len="sm" w="sm" type="none"/>
            <a:tailEnd len="med" w="med" type="stealth"/>
          </a:ln>
        </p:spPr>
      </p:cxnSp>
      <p:sp>
        <p:nvSpPr>
          <p:cNvPr id="173" name="Google Shape;173;p21"/>
          <p:cNvSpPr/>
          <p:nvPr/>
        </p:nvSpPr>
        <p:spPr>
          <a:xfrm>
            <a:off x="466725" y="2476500"/>
            <a:ext cx="1333500" cy="285750"/>
          </a:xfrm>
          <a:prstGeom prst="rect">
            <a:avLst/>
          </a:prstGeom>
          <a:solidFill>
            <a:srgbClr val="4F81BD"/>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74" name="Google Shape;174;p21"/>
          <p:cNvSpPr/>
          <p:nvPr/>
        </p:nvSpPr>
        <p:spPr>
          <a:xfrm>
            <a:off x="466725" y="2476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FFFFFF"/>
                </a:solidFill>
                <a:latin typeface="Liter"/>
                <a:ea typeface="Liter"/>
                <a:cs typeface="Liter"/>
                <a:sym typeface="Liter"/>
              </a:rPr>
              <a:t>FastAPI Backend</a:t>
            </a:r>
            <a:endParaRPr sz="1000">
              <a:solidFill>
                <a:schemeClr val="dk1"/>
              </a:solidFill>
              <a:latin typeface="Calibri"/>
              <a:ea typeface="Calibri"/>
              <a:cs typeface="Calibri"/>
              <a:sym typeface="Calibri"/>
            </a:endParaRPr>
          </a:p>
        </p:txBody>
      </p:sp>
      <p:sp>
        <p:nvSpPr>
          <p:cNvPr id="175" name="Google Shape;175;p21"/>
          <p:cNvSpPr/>
          <p:nvPr/>
        </p:nvSpPr>
        <p:spPr>
          <a:xfrm>
            <a:off x="466725" y="2809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API + Static Files</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CORS Enabled</a:t>
            </a:r>
            <a:endParaRPr sz="900">
              <a:solidFill>
                <a:schemeClr val="lt1"/>
              </a:solidFill>
              <a:latin typeface="Calibri"/>
              <a:ea typeface="Calibri"/>
              <a:cs typeface="Calibri"/>
              <a:sym typeface="Calibri"/>
            </a:endParaRPr>
          </a:p>
        </p:txBody>
      </p:sp>
      <p:cxnSp>
        <p:nvCxnSpPr>
          <p:cNvPr id="176" name="Google Shape;176;p21"/>
          <p:cNvCxnSpPr/>
          <p:nvPr/>
        </p:nvCxnSpPr>
        <p:spPr>
          <a:xfrm>
            <a:off x="1095494" y="3323034"/>
            <a:ext cx="0" cy="190500"/>
          </a:xfrm>
          <a:prstGeom prst="straightConnector1">
            <a:avLst/>
          </a:prstGeom>
          <a:noFill/>
          <a:ln cap="flat" cmpd="sng" w="25400">
            <a:solidFill>
              <a:srgbClr val="7EC0DA"/>
            </a:solidFill>
            <a:prstDash val="solid"/>
            <a:round/>
            <a:headEnd len="sm" w="sm" type="none"/>
            <a:tailEnd len="med" w="med" type="stealth"/>
          </a:ln>
        </p:spPr>
      </p:cxnSp>
      <p:sp>
        <p:nvSpPr>
          <p:cNvPr id="177" name="Google Shape;177;p21"/>
          <p:cNvSpPr/>
          <p:nvPr/>
        </p:nvSpPr>
        <p:spPr>
          <a:xfrm>
            <a:off x="466725" y="3619500"/>
            <a:ext cx="1333500" cy="285750"/>
          </a:xfrm>
          <a:prstGeom prst="rect">
            <a:avLst/>
          </a:prstGeom>
          <a:solidFill>
            <a:srgbClr val="8064A2"/>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78" name="Google Shape;178;p21"/>
          <p:cNvSpPr/>
          <p:nvPr/>
        </p:nvSpPr>
        <p:spPr>
          <a:xfrm>
            <a:off x="466725" y="3619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FFFFFF"/>
                </a:solidFill>
                <a:latin typeface="Liter"/>
                <a:ea typeface="Liter"/>
                <a:cs typeface="Liter"/>
                <a:sym typeface="Liter"/>
              </a:rPr>
              <a:t>Agent Layer</a:t>
            </a:r>
            <a:endParaRPr sz="1000">
              <a:solidFill>
                <a:schemeClr val="dk1"/>
              </a:solidFill>
              <a:latin typeface="Calibri"/>
              <a:ea typeface="Calibri"/>
              <a:cs typeface="Calibri"/>
              <a:sym typeface="Calibri"/>
            </a:endParaRPr>
          </a:p>
        </p:txBody>
      </p:sp>
      <p:sp>
        <p:nvSpPr>
          <p:cNvPr id="179" name="Google Shape;179;p21"/>
          <p:cNvSpPr/>
          <p:nvPr/>
        </p:nvSpPr>
        <p:spPr>
          <a:xfrm>
            <a:off x="466725" y="3952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Input Routing</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RAG + Summarize</a:t>
            </a:r>
            <a:endParaRPr sz="900">
              <a:solidFill>
                <a:schemeClr val="lt1"/>
              </a:solidFill>
              <a:latin typeface="Calibri"/>
              <a:ea typeface="Calibri"/>
              <a:cs typeface="Calibri"/>
              <a:sym typeface="Calibri"/>
            </a:endParaRPr>
          </a:p>
        </p:txBody>
      </p:sp>
      <p:cxnSp>
        <p:nvCxnSpPr>
          <p:cNvPr id="180" name="Google Shape;180;p21"/>
          <p:cNvCxnSpPr/>
          <p:nvPr/>
        </p:nvCxnSpPr>
        <p:spPr>
          <a:xfrm>
            <a:off x="1905000" y="3762375"/>
            <a:ext cx="285750" cy="0"/>
          </a:xfrm>
          <a:prstGeom prst="straightConnector1">
            <a:avLst/>
          </a:prstGeom>
          <a:noFill/>
          <a:ln cap="flat" cmpd="sng" w="25400">
            <a:solidFill>
              <a:srgbClr val="7EC0DA"/>
            </a:solidFill>
            <a:prstDash val="solid"/>
            <a:round/>
            <a:headEnd len="sm" w="sm" type="none"/>
            <a:tailEnd len="med" w="med" type="stealth"/>
          </a:ln>
        </p:spPr>
      </p:cxnSp>
      <p:sp>
        <p:nvSpPr>
          <p:cNvPr id="181" name="Google Shape;181;p21"/>
          <p:cNvSpPr/>
          <p:nvPr/>
        </p:nvSpPr>
        <p:spPr>
          <a:xfrm>
            <a:off x="2333625" y="3619500"/>
            <a:ext cx="1333500" cy="285750"/>
          </a:xfrm>
          <a:prstGeom prst="rect">
            <a:avLst/>
          </a:prstGeom>
          <a:solidFill>
            <a:srgbClr val="9BBB59"/>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2" name="Google Shape;182;p21"/>
          <p:cNvSpPr/>
          <p:nvPr/>
        </p:nvSpPr>
        <p:spPr>
          <a:xfrm>
            <a:off x="2333625" y="3619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292929"/>
                </a:solidFill>
                <a:latin typeface="Liter"/>
                <a:ea typeface="Liter"/>
                <a:cs typeface="Liter"/>
                <a:sym typeface="Liter"/>
              </a:rPr>
              <a:t>Vector Store</a:t>
            </a:r>
            <a:endParaRPr sz="1000">
              <a:solidFill>
                <a:schemeClr val="dk1"/>
              </a:solidFill>
              <a:latin typeface="Calibri"/>
              <a:ea typeface="Calibri"/>
              <a:cs typeface="Calibri"/>
              <a:sym typeface="Calibri"/>
            </a:endParaRPr>
          </a:p>
        </p:txBody>
      </p:sp>
      <p:sp>
        <p:nvSpPr>
          <p:cNvPr id="183" name="Google Shape;183;p21"/>
          <p:cNvSpPr/>
          <p:nvPr/>
        </p:nvSpPr>
        <p:spPr>
          <a:xfrm>
            <a:off x="2333625" y="3952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ChromaDB</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Persistent + Ephemeral</a:t>
            </a:r>
            <a:endParaRPr sz="900">
              <a:solidFill>
                <a:schemeClr val="lt1"/>
              </a:solidFill>
              <a:latin typeface="Calibri"/>
              <a:ea typeface="Calibri"/>
              <a:cs typeface="Calibri"/>
              <a:sym typeface="Calibri"/>
            </a:endParaRPr>
          </a:p>
        </p:txBody>
      </p:sp>
      <p:cxnSp>
        <p:nvCxnSpPr>
          <p:cNvPr id="184" name="Google Shape;184;p21"/>
          <p:cNvCxnSpPr/>
          <p:nvPr/>
        </p:nvCxnSpPr>
        <p:spPr>
          <a:xfrm>
            <a:off x="3810000" y="3762375"/>
            <a:ext cx="285750" cy="0"/>
          </a:xfrm>
          <a:prstGeom prst="straightConnector1">
            <a:avLst/>
          </a:prstGeom>
          <a:noFill/>
          <a:ln cap="flat" cmpd="sng" w="25400">
            <a:solidFill>
              <a:srgbClr val="7EC0DA"/>
            </a:solidFill>
            <a:prstDash val="solid"/>
            <a:round/>
            <a:headEnd len="sm" w="sm" type="none"/>
            <a:tailEnd len="med" w="med" type="stealth"/>
          </a:ln>
        </p:spPr>
      </p:cxnSp>
      <p:sp>
        <p:nvSpPr>
          <p:cNvPr id="185" name="Google Shape;185;p21"/>
          <p:cNvSpPr/>
          <p:nvPr/>
        </p:nvSpPr>
        <p:spPr>
          <a:xfrm>
            <a:off x="4238625" y="3619500"/>
            <a:ext cx="1333500" cy="285750"/>
          </a:xfrm>
          <a:prstGeom prst="rect">
            <a:avLst/>
          </a:prstGeom>
          <a:solidFill>
            <a:srgbClr val="C0504D"/>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86" name="Google Shape;186;p21"/>
          <p:cNvSpPr/>
          <p:nvPr/>
        </p:nvSpPr>
        <p:spPr>
          <a:xfrm>
            <a:off x="4238625" y="3619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FFFFFF"/>
                </a:solidFill>
                <a:latin typeface="Liter"/>
                <a:ea typeface="Liter"/>
                <a:cs typeface="Liter"/>
                <a:sym typeface="Liter"/>
              </a:rPr>
              <a:t>LLM Layer</a:t>
            </a:r>
            <a:endParaRPr sz="1000">
              <a:solidFill>
                <a:schemeClr val="dk1"/>
              </a:solidFill>
              <a:latin typeface="Calibri"/>
              <a:ea typeface="Calibri"/>
              <a:cs typeface="Calibri"/>
              <a:sym typeface="Calibri"/>
            </a:endParaRPr>
          </a:p>
        </p:txBody>
      </p:sp>
      <p:sp>
        <p:nvSpPr>
          <p:cNvPr id="187" name="Google Shape;187;p21"/>
          <p:cNvSpPr/>
          <p:nvPr/>
        </p:nvSpPr>
        <p:spPr>
          <a:xfrm>
            <a:off x="4238625" y="3952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Gemini/Gemma</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Google AI Studio</a:t>
            </a:r>
            <a:endParaRPr sz="900">
              <a:solidFill>
                <a:schemeClr val="lt1"/>
              </a:solidFill>
              <a:latin typeface="Calibri"/>
              <a:ea typeface="Calibri"/>
              <a:cs typeface="Calibri"/>
              <a:sym typeface="Calibri"/>
            </a:endParaRPr>
          </a:p>
        </p:txBody>
      </p:sp>
      <p:cxnSp>
        <p:nvCxnSpPr>
          <p:cNvPr id="188" name="Google Shape;188;p21"/>
          <p:cNvCxnSpPr/>
          <p:nvPr/>
        </p:nvCxnSpPr>
        <p:spPr>
          <a:xfrm>
            <a:off x="5953125" y="3762375"/>
            <a:ext cx="285750" cy="0"/>
          </a:xfrm>
          <a:prstGeom prst="straightConnector1">
            <a:avLst/>
          </a:prstGeom>
          <a:noFill/>
          <a:ln cap="flat" cmpd="sng" w="25400">
            <a:solidFill>
              <a:srgbClr val="7EC0DA"/>
            </a:solidFill>
            <a:prstDash val="solid"/>
            <a:round/>
            <a:headEnd len="sm" w="sm" type="none"/>
            <a:tailEnd len="med" w="med" type="stealth"/>
          </a:ln>
        </p:spPr>
      </p:cxnSp>
      <p:sp>
        <p:nvSpPr>
          <p:cNvPr id="189" name="Google Shape;189;p21"/>
          <p:cNvSpPr/>
          <p:nvPr/>
        </p:nvSpPr>
        <p:spPr>
          <a:xfrm>
            <a:off x="6381750" y="3619500"/>
            <a:ext cx="1333500" cy="285750"/>
          </a:xfrm>
          <a:prstGeom prst="rect">
            <a:avLst/>
          </a:prstGeom>
          <a:solidFill>
            <a:srgbClr val="4BACC6"/>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190" name="Google Shape;190;p21"/>
          <p:cNvSpPr/>
          <p:nvPr/>
        </p:nvSpPr>
        <p:spPr>
          <a:xfrm>
            <a:off x="6381750" y="3619500"/>
            <a:ext cx="1333500" cy="28575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1000">
                <a:solidFill>
                  <a:srgbClr val="292929"/>
                </a:solidFill>
                <a:latin typeface="Liter"/>
                <a:ea typeface="Liter"/>
                <a:cs typeface="Liter"/>
                <a:sym typeface="Liter"/>
              </a:rPr>
              <a:t>Data Layer</a:t>
            </a:r>
            <a:endParaRPr sz="1000">
              <a:solidFill>
                <a:schemeClr val="dk1"/>
              </a:solidFill>
              <a:latin typeface="Calibri"/>
              <a:ea typeface="Calibri"/>
              <a:cs typeface="Calibri"/>
              <a:sym typeface="Calibri"/>
            </a:endParaRPr>
          </a:p>
        </p:txBody>
      </p:sp>
      <p:sp>
        <p:nvSpPr>
          <p:cNvPr id="191" name="Google Shape;191;p21"/>
          <p:cNvSpPr/>
          <p:nvPr/>
        </p:nvSpPr>
        <p:spPr>
          <a:xfrm>
            <a:off x="6381750" y="3952875"/>
            <a:ext cx="1333500" cy="571500"/>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HF Dataset</a:t>
            </a:r>
            <a:endParaRPr sz="900">
              <a:solidFill>
                <a:schemeClr val="lt1"/>
              </a:solidFill>
              <a:latin typeface="Calibri"/>
              <a:ea typeface="Calibri"/>
              <a:cs typeface="Calibri"/>
              <a:sym typeface="Calibri"/>
            </a:endParaRPr>
          </a:p>
          <a:p>
            <a:pPr indent="0" lvl="0" marL="0" marR="0" rtl="0" algn="ctr">
              <a:lnSpc>
                <a:spcPct val="141666"/>
              </a:lnSpc>
              <a:spcBef>
                <a:spcPts val="0"/>
              </a:spcBef>
              <a:spcAft>
                <a:spcPts val="0"/>
              </a:spcAft>
              <a:buNone/>
            </a:pPr>
            <a:r>
              <a:rPr lang="en" sz="900">
                <a:solidFill>
                  <a:schemeClr val="lt1"/>
                </a:solidFill>
                <a:latin typeface="Liter"/>
                <a:ea typeface="Liter"/>
                <a:cs typeface="Liter"/>
                <a:sym typeface="Liter"/>
              </a:rPr>
              <a:t>Chunk + Embed</a:t>
            </a:r>
            <a:endParaRPr sz="900">
              <a:solidFill>
                <a:schemeClr val="lt1"/>
              </a:solidFill>
              <a:latin typeface="Calibri"/>
              <a:ea typeface="Calibri"/>
              <a:cs typeface="Calibri"/>
              <a:sym typeface="Calibri"/>
            </a:endParaRPr>
          </a:p>
        </p:txBody>
      </p:sp>
      <p:sp>
        <p:nvSpPr>
          <p:cNvPr id="192" name="Google Shape;192;p21"/>
          <p:cNvSpPr/>
          <p:nvPr/>
        </p:nvSpPr>
        <p:spPr>
          <a:xfrm>
            <a:off x="2333625" y="1333500"/>
            <a:ext cx="6191250" cy="1905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b="1" lang="en" sz="1100">
                <a:solidFill>
                  <a:srgbClr val="7EC0DA"/>
                </a:solidFill>
                <a:latin typeface="Liter"/>
                <a:ea typeface="Liter"/>
                <a:cs typeface="Liter"/>
                <a:sym typeface="Liter"/>
              </a:rPr>
              <a:t>User Flow:</a:t>
            </a:r>
            <a:r>
              <a:rPr lang="en" sz="1100">
                <a:solidFill>
                  <a:srgbClr val="888888"/>
                </a:solidFill>
                <a:latin typeface="Liter"/>
                <a:ea typeface="Liter"/>
                <a:cs typeface="Liter"/>
                <a:sym typeface="Liter"/>
              </a:rPr>
              <a:t> </a:t>
            </a:r>
            <a:r>
              <a:rPr lang="en" sz="1100">
                <a:solidFill>
                  <a:schemeClr val="lt1"/>
                </a:solidFill>
                <a:latin typeface="Liter"/>
                <a:ea typeface="Liter"/>
                <a:cs typeface="Liter"/>
                <a:sym typeface="Liter"/>
              </a:rPr>
              <a:t>User asks a question or uploads a document. The Agent Layer routes to either the RAG retriever (querying ChromaDB) or the summarizer. Retrieved context is sent to the LLM with strict instructions to answer only from provided documents. Response streams back to the user with source citations.</a:t>
            </a:r>
            <a:endParaRPr sz="500"/>
          </a:p>
          <a:p>
            <a:pPr indent="0" lvl="0" marL="0" marR="0" rtl="0" algn="l">
              <a:lnSpc>
                <a:spcPct val="140102"/>
              </a:lnSpc>
              <a:spcBef>
                <a:spcPts val="0"/>
              </a:spcBef>
              <a:spcAft>
                <a:spcPts val="0"/>
              </a:spcAft>
              <a:buNone/>
            </a:pPr>
            <a:r>
              <a:t/>
            </a:r>
            <a:endParaRPr sz="1100">
              <a:solidFill>
                <a:schemeClr val="lt1"/>
              </a:solidFill>
              <a:latin typeface="Liter"/>
              <a:ea typeface="Liter"/>
              <a:cs typeface="Liter"/>
              <a:sym typeface="Liter"/>
            </a:endParaRPr>
          </a:p>
          <a:p>
            <a:pPr indent="0" lvl="0" marL="0" marR="0" rtl="0" algn="l">
              <a:lnSpc>
                <a:spcPct val="140102"/>
              </a:lnSpc>
              <a:spcBef>
                <a:spcPts val="0"/>
              </a:spcBef>
              <a:spcAft>
                <a:spcPts val="0"/>
              </a:spcAft>
              <a:buNone/>
            </a:pPr>
            <a:r>
              <a:t/>
            </a:r>
            <a:endParaRPr sz="1100">
              <a:solidFill>
                <a:schemeClr val="lt1"/>
              </a:solidFill>
              <a:latin typeface="Calibri"/>
              <a:ea typeface="Calibri"/>
              <a:cs typeface="Calibri"/>
              <a:sym typeface="Calibri"/>
            </a:endParaRPr>
          </a:p>
          <a:p>
            <a:pPr indent="0" lvl="0" marL="0" marR="0" rtl="0" algn="l">
              <a:lnSpc>
                <a:spcPct val="140102"/>
              </a:lnSpc>
              <a:spcBef>
                <a:spcPts val="600"/>
              </a:spcBef>
              <a:spcAft>
                <a:spcPts val="0"/>
              </a:spcAft>
              <a:buNone/>
            </a:pPr>
            <a:r>
              <a:rPr b="1" lang="en" sz="1100">
                <a:solidFill>
                  <a:srgbClr val="7EC0DA"/>
                </a:solidFill>
                <a:latin typeface="Liter"/>
                <a:ea typeface="Liter"/>
                <a:cs typeface="Liter"/>
                <a:sym typeface="Liter"/>
              </a:rPr>
              <a:t>Session Isolation:</a:t>
            </a:r>
            <a:r>
              <a:rPr lang="en" sz="1100">
                <a:solidFill>
                  <a:srgbClr val="888888"/>
                </a:solidFill>
                <a:latin typeface="Liter"/>
                <a:ea typeface="Liter"/>
                <a:cs typeface="Liter"/>
                <a:sym typeface="Liter"/>
              </a:rPr>
              <a:t> </a:t>
            </a:r>
            <a:r>
              <a:rPr lang="en" sz="1100">
                <a:solidFill>
                  <a:schemeClr val="lt1"/>
                </a:solidFill>
                <a:latin typeface="Liter"/>
                <a:ea typeface="Liter"/>
                <a:cs typeface="Liter"/>
                <a:sym typeface="Liter"/>
              </a:rPr>
              <a:t>Each uploaded document creates an ephemeral ChromaDB collection. Queries merge results from both the base corpus and session collection, reserving half of top-k for session chunks.</a:t>
            </a:r>
            <a:endParaRPr sz="1100">
              <a:solidFill>
                <a:schemeClr val="lt1"/>
              </a:solidFill>
              <a:latin typeface="Calibri"/>
              <a:ea typeface="Calibri"/>
              <a:cs typeface="Calibri"/>
              <a:sym typeface="Calibri"/>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197" name="Shape 197"/>
        <p:cNvGrpSpPr/>
        <p:nvPr/>
      </p:nvGrpSpPr>
      <p:grpSpPr>
        <a:xfrm>
          <a:off x="0" y="0"/>
          <a:ext cx="0" cy="0"/>
          <a:chOff x="0" y="0"/>
          <a:chExt cx="0" cy="0"/>
        </a:xfrm>
      </p:grpSpPr>
      <p:sp>
        <p:nvSpPr>
          <p:cNvPr id="198" name="Google Shape;198;p22"/>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RAG Pipeline &amp; Data Flow</a:t>
            </a:r>
            <a:endParaRPr sz="2100">
              <a:solidFill>
                <a:schemeClr val="dk1"/>
              </a:solidFill>
              <a:latin typeface="Calibri"/>
              <a:ea typeface="Calibri"/>
              <a:cs typeface="Calibri"/>
              <a:sym typeface="Calibri"/>
            </a:endParaRPr>
          </a:p>
        </p:txBody>
      </p:sp>
      <p:sp>
        <p:nvSpPr>
          <p:cNvPr id="199" name="Google Shape;199;p22"/>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0" name="Google Shape;200;p22"/>
          <p:cNvSpPr/>
          <p:nvPr/>
        </p:nvSpPr>
        <p:spPr>
          <a:xfrm>
            <a:off x="466725" y="1333500"/>
            <a:ext cx="952500" cy="333375"/>
          </a:xfrm>
          <a:prstGeom prst="rect">
            <a:avLst/>
          </a:prstGeom>
          <a:solidFill>
            <a:srgbClr val="1A1A1A"/>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1" name="Google Shape;201;p22"/>
          <p:cNvSpPr/>
          <p:nvPr/>
        </p:nvSpPr>
        <p:spPr>
          <a:xfrm>
            <a:off x="466725" y="1333500"/>
            <a:ext cx="952500"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7EC0DA"/>
                </a:solidFill>
                <a:latin typeface="Liter"/>
                <a:ea typeface="Liter"/>
                <a:cs typeface="Liter"/>
                <a:sym typeface="Liter"/>
              </a:rPr>
              <a:t>Ingest</a:t>
            </a:r>
            <a:endParaRPr sz="900">
              <a:solidFill>
                <a:schemeClr val="dk1"/>
              </a:solidFill>
              <a:latin typeface="Calibri"/>
              <a:ea typeface="Calibri"/>
              <a:cs typeface="Calibri"/>
              <a:sym typeface="Calibri"/>
            </a:endParaRPr>
          </a:p>
        </p:txBody>
      </p:sp>
      <p:cxnSp>
        <p:nvCxnSpPr>
          <p:cNvPr id="202" name="Google Shape;202;p22"/>
          <p:cNvCxnSpPr/>
          <p:nvPr/>
        </p:nvCxnSpPr>
        <p:spPr>
          <a:xfrm>
            <a:off x="1514475" y="1500188"/>
            <a:ext cx="238125" cy="0"/>
          </a:xfrm>
          <a:prstGeom prst="straightConnector1">
            <a:avLst/>
          </a:prstGeom>
          <a:noFill/>
          <a:ln cap="flat" cmpd="sng" w="25400">
            <a:solidFill>
              <a:srgbClr val="7EC0DA"/>
            </a:solidFill>
            <a:prstDash val="solid"/>
            <a:round/>
            <a:headEnd len="sm" w="sm" type="none"/>
            <a:tailEnd len="med" w="med" type="stealth"/>
          </a:ln>
        </p:spPr>
      </p:cxnSp>
      <p:sp>
        <p:nvSpPr>
          <p:cNvPr id="203" name="Google Shape;203;p22"/>
          <p:cNvSpPr/>
          <p:nvPr/>
        </p:nvSpPr>
        <p:spPr>
          <a:xfrm>
            <a:off x="1847850" y="1333500"/>
            <a:ext cx="952500" cy="333375"/>
          </a:xfrm>
          <a:prstGeom prst="rect">
            <a:avLst/>
          </a:prstGeom>
          <a:solidFill>
            <a:srgbClr val="1A1A1A"/>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4" name="Google Shape;204;p22"/>
          <p:cNvSpPr/>
          <p:nvPr/>
        </p:nvSpPr>
        <p:spPr>
          <a:xfrm>
            <a:off x="1847850" y="1333500"/>
            <a:ext cx="952500"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7EC0DA"/>
                </a:solidFill>
                <a:latin typeface="Liter"/>
                <a:ea typeface="Liter"/>
                <a:cs typeface="Liter"/>
                <a:sym typeface="Liter"/>
              </a:rPr>
              <a:t>Chunk</a:t>
            </a:r>
            <a:endParaRPr sz="900">
              <a:solidFill>
                <a:schemeClr val="dk1"/>
              </a:solidFill>
              <a:latin typeface="Calibri"/>
              <a:ea typeface="Calibri"/>
              <a:cs typeface="Calibri"/>
              <a:sym typeface="Calibri"/>
            </a:endParaRPr>
          </a:p>
        </p:txBody>
      </p:sp>
      <p:cxnSp>
        <p:nvCxnSpPr>
          <p:cNvPr id="205" name="Google Shape;205;p22"/>
          <p:cNvCxnSpPr/>
          <p:nvPr/>
        </p:nvCxnSpPr>
        <p:spPr>
          <a:xfrm>
            <a:off x="2895600" y="1500188"/>
            <a:ext cx="238125" cy="0"/>
          </a:xfrm>
          <a:prstGeom prst="straightConnector1">
            <a:avLst/>
          </a:prstGeom>
          <a:noFill/>
          <a:ln cap="flat" cmpd="sng" w="25400">
            <a:solidFill>
              <a:srgbClr val="7EC0DA"/>
            </a:solidFill>
            <a:prstDash val="solid"/>
            <a:round/>
            <a:headEnd len="sm" w="sm" type="none"/>
            <a:tailEnd len="med" w="med" type="stealth"/>
          </a:ln>
        </p:spPr>
      </p:cxnSp>
      <p:sp>
        <p:nvSpPr>
          <p:cNvPr id="206" name="Google Shape;206;p22"/>
          <p:cNvSpPr/>
          <p:nvPr/>
        </p:nvSpPr>
        <p:spPr>
          <a:xfrm>
            <a:off x="3228975" y="1333500"/>
            <a:ext cx="952500" cy="333375"/>
          </a:xfrm>
          <a:prstGeom prst="rect">
            <a:avLst/>
          </a:prstGeom>
          <a:solidFill>
            <a:srgbClr val="1A1A1A"/>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7" name="Google Shape;207;p22"/>
          <p:cNvSpPr/>
          <p:nvPr/>
        </p:nvSpPr>
        <p:spPr>
          <a:xfrm>
            <a:off x="3228975" y="1333500"/>
            <a:ext cx="952500"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7EC0DA"/>
                </a:solidFill>
                <a:latin typeface="Liter"/>
                <a:ea typeface="Liter"/>
                <a:cs typeface="Liter"/>
                <a:sym typeface="Liter"/>
              </a:rPr>
              <a:t>Embed</a:t>
            </a:r>
            <a:endParaRPr sz="900">
              <a:solidFill>
                <a:schemeClr val="dk1"/>
              </a:solidFill>
              <a:latin typeface="Calibri"/>
              <a:ea typeface="Calibri"/>
              <a:cs typeface="Calibri"/>
              <a:sym typeface="Calibri"/>
            </a:endParaRPr>
          </a:p>
        </p:txBody>
      </p:sp>
      <p:cxnSp>
        <p:nvCxnSpPr>
          <p:cNvPr id="208" name="Google Shape;208;p22"/>
          <p:cNvCxnSpPr/>
          <p:nvPr/>
        </p:nvCxnSpPr>
        <p:spPr>
          <a:xfrm>
            <a:off x="4276725" y="1500188"/>
            <a:ext cx="238125" cy="0"/>
          </a:xfrm>
          <a:prstGeom prst="straightConnector1">
            <a:avLst/>
          </a:prstGeom>
          <a:noFill/>
          <a:ln cap="flat" cmpd="sng" w="25400">
            <a:solidFill>
              <a:srgbClr val="7EC0DA"/>
            </a:solidFill>
            <a:prstDash val="solid"/>
            <a:round/>
            <a:headEnd len="sm" w="sm" type="none"/>
            <a:tailEnd len="med" w="med" type="stealth"/>
          </a:ln>
        </p:spPr>
      </p:cxnSp>
      <p:sp>
        <p:nvSpPr>
          <p:cNvPr id="209" name="Google Shape;209;p22"/>
          <p:cNvSpPr/>
          <p:nvPr/>
        </p:nvSpPr>
        <p:spPr>
          <a:xfrm>
            <a:off x="4610100" y="1333500"/>
            <a:ext cx="952500" cy="333375"/>
          </a:xfrm>
          <a:prstGeom prst="rect">
            <a:avLst/>
          </a:prstGeom>
          <a:solidFill>
            <a:srgbClr val="1A1A1A"/>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0" name="Google Shape;210;p22"/>
          <p:cNvSpPr/>
          <p:nvPr/>
        </p:nvSpPr>
        <p:spPr>
          <a:xfrm>
            <a:off x="4610100" y="1333500"/>
            <a:ext cx="952500"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7EC0DA"/>
                </a:solidFill>
                <a:latin typeface="Liter"/>
                <a:ea typeface="Liter"/>
                <a:cs typeface="Liter"/>
                <a:sym typeface="Liter"/>
              </a:rPr>
              <a:t>Store</a:t>
            </a:r>
            <a:endParaRPr sz="900">
              <a:solidFill>
                <a:schemeClr val="dk1"/>
              </a:solidFill>
              <a:latin typeface="Calibri"/>
              <a:ea typeface="Calibri"/>
              <a:cs typeface="Calibri"/>
              <a:sym typeface="Calibri"/>
            </a:endParaRPr>
          </a:p>
        </p:txBody>
      </p:sp>
      <p:cxnSp>
        <p:nvCxnSpPr>
          <p:cNvPr id="211" name="Google Shape;211;p22"/>
          <p:cNvCxnSpPr/>
          <p:nvPr/>
        </p:nvCxnSpPr>
        <p:spPr>
          <a:xfrm>
            <a:off x="5657850" y="1500188"/>
            <a:ext cx="238125" cy="0"/>
          </a:xfrm>
          <a:prstGeom prst="straightConnector1">
            <a:avLst/>
          </a:prstGeom>
          <a:noFill/>
          <a:ln cap="flat" cmpd="sng" w="25400">
            <a:solidFill>
              <a:srgbClr val="7EC0DA"/>
            </a:solidFill>
            <a:prstDash val="solid"/>
            <a:round/>
            <a:headEnd len="sm" w="sm" type="none"/>
            <a:tailEnd len="med" w="med" type="stealth"/>
          </a:ln>
        </p:spPr>
      </p:cxnSp>
      <p:sp>
        <p:nvSpPr>
          <p:cNvPr id="212" name="Google Shape;212;p22"/>
          <p:cNvSpPr/>
          <p:nvPr/>
        </p:nvSpPr>
        <p:spPr>
          <a:xfrm>
            <a:off x="5991225" y="1333500"/>
            <a:ext cx="952500" cy="333375"/>
          </a:xfrm>
          <a:prstGeom prst="rect">
            <a:avLst/>
          </a:prstGeom>
          <a:solidFill>
            <a:srgbClr val="1A1A1A"/>
          </a:solidFill>
          <a:ln cap="flat" cmpd="sng" w="12700">
            <a:solidFill>
              <a:srgbClr val="7EC0DA"/>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3" name="Google Shape;213;p22"/>
          <p:cNvSpPr/>
          <p:nvPr/>
        </p:nvSpPr>
        <p:spPr>
          <a:xfrm>
            <a:off x="5991225" y="1333500"/>
            <a:ext cx="952500"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7EC0DA"/>
                </a:solidFill>
                <a:latin typeface="Liter"/>
                <a:ea typeface="Liter"/>
                <a:cs typeface="Liter"/>
                <a:sym typeface="Liter"/>
              </a:rPr>
              <a:t>Retrieve</a:t>
            </a:r>
            <a:endParaRPr sz="900">
              <a:solidFill>
                <a:schemeClr val="dk1"/>
              </a:solidFill>
              <a:latin typeface="Calibri"/>
              <a:ea typeface="Calibri"/>
              <a:cs typeface="Calibri"/>
              <a:sym typeface="Calibri"/>
            </a:endParaRPr>
          </a:p>
        </p:txBody>
      </p:sp>
      <p:cxnSp>
        <p:nvCxnSpPr>
          <p:cNvPr id="214" name="Google Shape;214;p22"/>
          <p:cNvCxnSpPr/>
          <p:nvPr/>
        </p:nvCxnSpPr>
        <p:spPr>
          <a:xfrm>
            <a:off x="7038975" y="1500188"/>
            <a:ext cx="238125" cy="0"/>
          </a:xfrm>
          <a:prstGeom prst="straightConnector1">
            <a:avLst/>
          </a:prstGeom>
          <a:noFill/>
          <a:ln cap="flat" cmpd="sng" w="25400">
            <a:solidFill>
              <a:srgbClr val="7EC0DA"/>
            </a:solidFill>
            <a:prstDash val="solid"/>
            <a:round/>
            <a:headEnd len="sm" w="sm" type="none"/>
            <a:tailEnd len="med" w="med" type="stealth"/>
          </a:ln>
        </p:spPr>
      </p:cxnSp>
      <p:sp>
        <p:nvSpPr>
          <p:cNvPr id="215" name="Google Shape;215;p22"/>
          <p:cNvSpPr/>
          <p:nvPr/>
        </p:nvSpPr>
        <p:spPr>
          <a:xfrm>
            <a:off x="7372350" y="1333500"/>
            <a:ext cx="1285875" cy="333375"/>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6" name="Google Shape;216;p22"/>
          <p:cNvSpPr/>
          <p:nvPr/>
        </p:nvSpPr>
        <p:spPr>
          <a:xfrm>
            <a:off x="7372350" y="1333500"/>
            <a:ext cx="1285875" cy="3333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 sz="900">
                <a:solidFill>
                  <a:srgbClr val="292929"/>
                </a:solidFill>
                <a:latin typeface="Liter"/>
                <a:ea typeface="Liter"/>
                <a:cs typeface="Liter"/>
                <a:sym typeface="Liter"/>
              </a:rPr>
              <a:t>Generate</a:t>
            </a:r>
            <a:endParaRPr sz="900">
              <a:solidFill>
                <a:schemeClr val="dk1"/>
              </a:solidFill>
              <a:latin typeface="Calibri"/>
              <a:ea typeface="Calibri"/>
              <a:cs typeface="Calibri"/>
              <a:sym typeface="Calibri"/>
            </a:endParaRPr>
          </a:p>
        </p:txBody>
      </p:sp>
      <p:sp>
        <p:nvSpPr>
          <p:cNvPr id="217" name="Google Shape;217;p22"/>
          <p:cNvSpPr/>
          <p:nvPr/>
        </p:nvSpPr>
        <p:spPr>
          <a:xfrm>
            <a:off x="466725" y="1905000"/>
            <a:ext cx="1666875"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Data Ingestion</a:t>
            </a:r>
            <a:endParaRPr sz="1500">
              <a:solidFill>
                <a:schemeClr val="dk1"/>
              </a:solidFill>
              <a:latin typeface="Calibri"/>
              <a:ea typeface="Calibri"/>
              <a:cs typeface="Calibri"/>
              <a:sym typeface="Calibri"/>
            </a:endParaRPr>
          </a:p>
        </p:txBody>
      </p:sp>
      <p:sp>
        <p:nvSpPr>
          <p:cNvPr id="218" name="Google Shape;218;p22"/>
          <p:cNvSpPr/>
          <p:nvPr/>
        </p:nvSpPr>
        <p:spPr>
          <a:xfrm>
            <a:off x="466725" y="2190750"/>
            <a:ext cx="1666875" cy="123825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Load Indian legal dataset (ninadn/indian-legal). Filter empty documents. Cache raw docs locally. Default: 300 documents indexed.</a:t>
            </a:r>
            <a:endParaRPr sz="1100">
              <a:solidFill>
                <a:schemeClr val="dk1"/>
              </a:solidFill>
              <a:latin typeface="Calibri"/>
              <a:ea typeface="Calibri"/>
              <a:cs typeface="Calibri"/>
              <a:sym typeface="Calibri"/>
            </a:endParaRPr>
          </a:p>
        </p:txBody>
      </p:sp>
      <p:sp>
        <p:nvSpPr>
          <p:cNvPr id="219" name="Google Shape;219;p22"/>
          <p:cNvSpPr/>
          <p:nvPr/>
        </p:nvSpPr>
        <p:spPr>
          <a:xfrm>
            <a:off x="2371725" y="1905000"/>
            <a:ext cx="1666875"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Chunking Strategy</a:t>
            </a:r>
            <a:endParaRPr sz="1500">
              <a:solidFill>
                <a:schemeClr val="dk1"/>
              </a:solidFill>
              <a:latin typeface="Calibri"/>
              <a:ea typeface="Calibri"/>
              <a:cs typeface="Calibri"/>
              <a:sym typeface="Calibri"/>
            </a:endParaRPr>
          </a:p>
        </p:txBody>
      </p:sp>
      <p:sp>
        <p:nvSpPr>
          <p:cNvPr id="220" name="Google Shape;220;p22"/>
          <p:cNvSpPr/>
          <p:nvPr/>
        </p:nvSpPr>
        <p:spPr>
          <a:xfrm>
            <a:off x="2371725" y="2190750"/>
            <a:ext cx="1666875" cy="123825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Character-based sliding window. Chunk size: 800 chars. Overlap: 100 chars. Creates retrievable units with unique IDs per document.</a:t>
            </a:r>
            <a:endParaRPr sz="1100">
              <a:solidFill>
                <a:schemeClr val="dk1"/>
              </a:solidFill>
              <a:latin typeface="Calibri"/>
              <a:ea typeface="Calibri"/>
              <a:cs typeface="Calibri"/>
              <a:sym typeface="Calibri"/>
            </a:endParaRPr>
          </a:p>
        </p:txBody>
      </p:sp>
      <p:sp>
        <p:nvSpPr>
          <p:cNvPr id="221" name="Google Shape;221;p22"/>
          <p:cNvSpPr/>
          <p:nvPr/>
        </p:nvSpPr>
        <p:spPr>
          <a:xfrm>
            <a:off x="4276725" y="1905000"/>
            <a:ext cx="1666875"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Embedding Model</a:t>
            </a:r>
            <a:endParaRPr sz="1500">
              <a:solidFill>
                <a:schemeClr val="dk1"/>
              </a:solidFill>
              <a:latin typeface="Calibri"/>
              <a:ea typeface="Calibri"/>
              <a:cs typeface="Calibri"/>
              <a:sym typeface="Calibri"/>
            </a:endParaRPr>
          </a:p>
        </p:txBody>
      </p:sp>
      <p:sp>
        <p:nvSpPr>
          <p:cNvPr id="222" name="Google Shape;222;p22"/>
          <p:cNvSpPr/>
          <p:nvPr/>
        </p:nvSpPr>
        <p:spPr>
          <a:xfrm>
            <a:off x="4276725" y="2190750"/>
            <a:ext cx="1666875" cy="123825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all-MiniLM-L6-v2 (384-dim). Local, free, no API cost. Sentence-transformers library. Same model for both docs and queries.</a:t>
            </a:r>
            <a:endParaRPr sz="1100">
              <a:solidFill>
                <a:schemeClr val="dk1"/>
              </a:solidFill>
              <a:latin typeface="Calibri"/>
              <a:ea typeface="Calibri"/>
              <a:cs typeface="Calibri"/>
              <a:sym typeface="Calibri"/>
            </a:endParaRPr>
          </a:p>
        </p:txBody>
      </p:sp>
      <p:sp>
        <p:nvSpPr>
          <p:cNvPr id="223" name="Google Shape;223;p22"/>
          <p:cNvSpPr/>
          <p:nvPr/>
        </p:nvSpPr>
        <p:spPr>
          <a:xfrm>
            <a:off x="6181725" y="1905000"/>
            <a:ext cx="247650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Query Merge Strategy</a:t>
            </a:r>
            <a:endParaRPr sz="1500">
              <a:solidFill>
                <a:schemeClr val="dk1"/>
              </a:solidFill>
              <a:latin typeface="Calibri"/>
              <a:ea typeface="Calibri"/>
              <a:cs typeface="Calibri"/>
              <a:sym typeface="Calibri"/>
            </a:endParaRPr>
          </a:p>
        </p:txBody>
      </p:sp>
      <p:sp>
        <p:nvSpPr>
          <p:cNvPr id="224" name="Google Shape;224;p22"/>
          <p:cNvSpPr/>
          <p:nvPr/>
        </p:nvSpPr>
        <p:spPr>
          <a:xfrm>
            <a:off x="6181725" y="2190750"/>
            <a:ext cx="2476500" cy="9525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Merged query across base corpus + session collection. Reserves half of top-k=4 for session docs. Distance-based ranking prevents corpus crowding.</a:t>
            </a:r>
            <a:endParaRPr sz="1100">
              <a:solidFill>
                <a:schemeClr val="dk1"/>
              </a:solidFill>
              <a:latin typeface="Calibri"/>
              <a:ea typeface="Calibri"/>
              <a:cs typeface="Calibri"/>
              <a:sym typeface="Calibri"/>
            </a:endParaRPr>
          </a:p>
        </p:txBody>
      </p:sp>
      <p:sp>
        <p:nvSpPr>
          <p:cNvPr id="225" name="Google Shape;225;p22"/>
          <p:cNvSpPr/>
          <p:nvPr/>
        </p:nvSpPr>
        <p:spPr>
          <a:xfrm>
            <a:off x="466725" y="3524250"/>
            <a:ext cx="8191500" cy="4763"/>
          </a:xfrm>
          <a:prstGeom prst="rect">
            <a:avLst/>
          </a:prstGeom>
          <a:solidFill>
            <a:srgbClr val="444444"/>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26" name="Google Shape;226;p22"/>
          <p:cNvSpPr/>
          <p:nvPr/>
        </p:nvSpPr>
        <p:spPr>
          <a:xfrm>
            <a:off x="466725" y="3619500"/>
            <a:ext cx="285750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Key Pipeline Parameters</a:t>
            </a:r>
            <a:endParaRPr sz="1500">
              <a:solidFill>
                <a:schemeClr val="dk1"/>
              </a:solidFill>
              <a:latin typeface="Calibri"/>
              <a:ea typeface="Calibri"/>
              <a:cs typeface="Calibri"/>
              <a:sym typeface="Calibri"/>
            </a:endParaRPr>
          </a:p>
        </p:txBody>
      </p:sp>
      <p:graphicFrame>
        <p:nvGraphicFramePr>
          <p:cNvPr id="227" name="Google Shape;227;p22"/>
          <p:cNvGraphicFramePr/>
          <p:nvPr/>
        </p:nvGraphicFramePr>
        <p:xfrm>
          <a:off x="466725" y="3905250"/>
          <a:ext cx="3000000" cy="3000000"/>
        </p:xfrm>
        <a:graphic>
          <a:graphicData uri="http://schemas.openxmlformats.org/drawingml/2006/table">
            <a:tbl>
              <a:tblPr>
                <a:noFill/>
                <a:tableStyleId>{CC2949DA-FF79-4738-B8D2-11C63B47F9BD}</a:tableStyleId>
              </a:tblPr>
              <a:tblGrid>
                <a:gridCol w="1638300"/>
                <a:gridCol w="1638300"/>
                <a:gridCol w="1638300"/>
                <a:gridCol w="1638300"/>
                <a:gridCol w="1638300"/>
              </a:tblGrid>
              <a:tr h="366700">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Parameter</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Chunk Size</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Overlap</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Top-K</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Batch Size</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r>
              <a:tr h="340500">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Value</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800 chars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100 chars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4</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64</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r>
              <a:tr h="340500">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Purpose</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Retrievable units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Context continuity</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Result diversity</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Efficient upsert</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32" name="Shape 232"/>
        <p:cNvGrpSpPr/>
        <p:nvPr/>
      </p:nvGrpSpPr>
      <p:grpSpPr>
        <a:xfrm>
          <a:off x="0" y="0"/>
          <a:ext cx="0" cy="0"/>
          <a:chOff x="0" y="0"/>
          <a:chExt cx="0" cy="0"/>
        </a:xfrm>
      </p:grpSpPr>
      <p:sp>
        <p:nvSpPr>
          <p:cNvPr id="233" name="Google Shape;233;p23"/>
          <p:cNvSpPr/>
          <p:nvPr/>
        </p:nvSpPr>
        <p:spPr>
          <a:xfrm>
            <a:off x="468630" y="1666875"/>
            <a:ext cx="1905000" cy="595313"/>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7EC0DA"/>
                </a:solidFill>
                <a:latin typeface="Liter"/>
                <a:ea typeface="Liter"/>
                <a:cs typeface="Liter"/>
                <a:sym typeface="Liter"/>
              </a:rPr>
              <a:t>03</a:t>
            </a:r>
            <a:endParaRPr sz="3700">
              <a:solidFill>
                <a:schemeClr val="dk1"/>
              </a:solidFill>
              <a:latin typeface="Calibri"/>
              <a:ea typeface="Calibri"/>
              <a:cs typeface="Calibri"/>
              <a:sym typeface="Calibri"/>
            </a:endParaRPr>
          </a:p>
        </p:txBody>
      </p:sp>
      <p:sp>
        <p:nvSpPr>
          <p:cNvPr id="234" name="Google Shape;234;p23"/>
          <p:cNvSpPr/>
          <p:nvPr/>
        </p:nvSpPr>
        <p:spPr>
          <a:xfrm>
            <a:off x="468630" y="2333625"/>
            <a:ext cx="4762500" cy="762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Technology &amp; Implementation</a:t>
            </a:r>
            <a:endParaRPr sz="2100">
              <a:solidFill>
                <a:schemeClr val="dk1"/>
              </a:solidFill>
              <a:latin typeface="Calibri"/>
              <a:ea typeface="Calibri"/>
              <a:cs typeface="Calibri"/>
              <a:sym typeface="Calibri"/>
            </a:endParaRPr>
          </a:p>
        </p:txBody>
      </p:sp>
      <p:sp>
        <p:nvSpPr>
          <p:cNvPr id="235" name="Google Shape;235;p23"/>
          <p:cNvSpPr/>
          <p:nvPr/>
        </p:nvSpPr>
        <p:spPr>
          <a:xfrm>
            <a:off x="468630" y="3143250"/>
            <a:ext cx="4286250" cy="381000"/>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lang="en" sz="1400">
                <a:solidFill>
                  <a:srgbClr val="FFFFFF"/>
                </a:solidFill>
                <a:latin typeface="Liter"/>
                <a:ea typeface="Liter"/>
                <a:cs typeface="Liter"/>
                <a:sym typeface="Liter"/>
              </a:rPr>
              <a:t>Models, tools, stack, and engineering decisions</a:t>
            </a:r>
            <a:endParaRPr sz="1400">
              <a:solidFill>
                <a:schemeClr val="dk1"/>
              </a:solidFill>
              <a:latin typeface="Calibri"/>
              <a:ea typeface="Calibri"/>
              <a:cs typeface="Calibri"/>
              <a:sym typeface="Calibri"/>
            </a:endParaRPr>
          </a:p>
        </p:txBody>
      </p:sp>
      <p:sp>
        <p:nvSpPr>
          <p:cNvPr id="236" name="Google Shape;236;p23"/>
          <p:cNvSpPr/>
          <p:nvPr/>
        </p:nvSpPr>
        <p:spPr>
          <a:xfrm>
            <a:off x="468630" y="3619500"/>
            <a:ext cx="714375"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41" name="Shape 241"/>
        <p:cNvGrpSpPr/>
        <p:nvPr/>
      </p:nvGrpSpPr>
      <p:grpSpPr>
        <a:xfrm>
          <a:off x="0" y="0"/>
          <a:ext cx="0" cy="0"/>
          <a:chOff x="0" y="0"/>
          <a:chExt cx="0" cy="0"/>
        </a:xfrm>
      </p:grpSpPr>
      <p:sp>
        <p:nvSpPr>
          <p:cNvPr id="242" name="Google Shape;242;p24"/>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Models, Tools &amp; Technology Stack</a:t>
            </a:r>
            <a:endParaRPr sz="2100">
              <a:solidFill>
                <a:schemeClr val="dk1"/>
              </a:solidFill>
              <a:latin typeface="Calibri"/>
              <a:ea typeface="Calibri"/>
              <a:cs typeface="Calibri"/>
              <a:sym typeface="Calibri"/>
            </a:endParaRPr>
          </a:p>
        </p:txBody>
      </p:sp>
      <p:sp>
        <p:nvSpPr>
          <p:cNvPr id="243" name="Google Shape;243;p24"/>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graphicFrame>
        <p:nvGraphicFramePr>
          <p:cNvPr id="244" name="Google Shape;244;p24"/>
          <p:cNvGraphicFramePr/>
          <p:nvPr/>
        </p:nvGraphicFramePr>
        <p:xfrm>
          <a:off x="466725" y="1285875"/>
          <a:ext cx="3000000" cy="3000000"/>
        </p:xfrm>
        <a:graphic>
          <a:graphicData uri="http://schemas.openxmlformats.org/drawingml/2006/table">
            <a:tbl>
              <a:tblPr>
                <a:noFill/>
                <a:tableStyleId>{CC2949DA-FF79-4738-B8D2-11C63B47F9BD}</a:tableStyleId>
              </a:tblPr>
              <a:tblGrid>
                <a:gridCol w="1474450"/>
                <a:gridCol w="2211700"/>
                <a:gridCol w="4505325"/>
              </a:tblGrid>
              <a:tr h="333375">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Layer</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Technology</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None/>
                      </a:pPr>
                      <a:r>
                        <a:rPr b="1" lang="en" sz="900" u="none" cap="none" strike="noStrike">
                          <a:solidFill>
                            <a:srgbClr val="7EC0DA"/>
                          </a:solidFill>
                          <a:latin typeface="Liter"/>
                          <a:ea typeface="Liter"/>
                          <a:cs typeface="Liter"/>
                          <a:sym typeface="Liter"/>
                        </a:rPr>
                        <a:t>Details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1A1A1A"/>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Embeddings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all-MiniLM-L6-v2</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384-dim, local, free via sentence-transformers. No API cost.</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LLM</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Gemini/Gemma</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Google AI Studio free tier API. Structured prompts with retry logic (3 attempts, exponential backoff).</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Vector DB</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ChromaDB</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Local, file-based persistent storage. Ephemeral in-memory collections for user sessions.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Backend</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FastAPI</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Python async framework. Serves API + static frontend. CORS enabled. Streaming SSE support.</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Frontend</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HTML/CSS/JS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No framework. Plain vanilla JS. BigLaw monochrome design. Calm, professional, accessible.</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Dataset</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ninadn/indian-legal</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Hugging Face dataset. 300+ Indian legal documents with reference summaries.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Deployment</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Docker + HF Spaces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Containerized with Dockerfile. Deployable to Hugging Face Spaces. Background index building.</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292929"/>
                    </a:solidFill>
                  </a:tcPr>
                </a:tc>
              </a:tr>
              <a:tr h="375025">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Key Libs</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7EC0DA"/>
                          </a:solidFill>
                          <a:latin typeface="Liter"/>
                          <a:ea typeface="Liter"/>
                          <a:cs typeface="Liter"/>
                          <a:sym typeface="Liter"/>
                        </a:rPr>
                        <a:t>google-genai, chromadb</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c>
                  <a:txBody>
                    <a:bodyPr/>
                    <a:lstStyle/>
                    <a:p>
                      <a:pPr indent="0" lvl="0" marL="0" marR="0" rtl="0" algn="ctr">
                        <a:spcBef>
                          <a:spcPts val="0"/>
                        </a:spcBef>
                        <a:spcAft>
                          <a:spcPts val="0"/>
                        </a:spcAft>
                        <a:buNone/>
                      </a:pPr>
                      <a:r>
                        <a:rPr lang="en" sz="900" u="none" cap="none" strike="noStrike">
                          <a:solidFill>
                            <a:srgbClr val="FFFFFF"/>
                          </a:solidFill>
                          <a:latin typeface="Liter"/>
                          <a:ea typeface="Liter"/>
                          <a:cs typeface="Liter"/>
                          <a:sym typeface="Liter"/>
                        </a:rPr>
                        <a:t>Also: datasets, sentence-transformers, fastapi, python-dotenv.</a:t>
                      </a:r>
                      <a:endParaRPr sz="900" u="none" cap="none" strike="noStrike">
                        <a:latin typeface="Liter"/>
                        <a:ea typeface="Liter"/>
                        <a:cs typeface="Liter"/>
                        <a:sym typeface="Liter"/>
                      </a:endParaRPr>
                    </a:p>
                  </a:txBody>
                  <a:tcPr marT="0" marB="0" marR="20575" marL="20575" anchor="ctr">
                    <a:lnL cap="flat" cmpd="sng" w="12700">
                      <a:solidFill>
                        <a:srgbClr val="444444"/>
                      </a:solidFill>
                      <a:prstDash val="solid"/>
                      <a:round/>
                      <a:headEnd len="sm" w="sm" type="none"/>
                      <a:tailEnd len="sm" w="sm" type="none"/>
                    </a:lnL>
                    <a:lnR cap="flat" cmpd="sng" w="12700">
                      <a:solidFill>
                        <a:srgbClr val="444444"/>
                      </a:solidFill>
                      <a:prstDash val="solid"/>
                      <a:round/>
                      <a:headEnd len="sm" w="sm" type="none"/>
                      <a:tailEnd len="sm" w="sm" type="none"/>
                    </a:lnR>
                    <a:lnT cap="flat" cmpd="sng" w="12700">
                      <a:solidFill>
                        <a:srgbClr val="444444"/>
                      </a:solidFill>
                      <a:prstDash val="solid"/>
                      <a:round/>
                      <a:headEnd len="sm" w="sm" type="none"/>
                      <a:tailEnd len="sm" w="sm" type="none"/>
                    </a:lnT>
                    <a:lnB cap="flat" cmpd="sng" w="12700">
                      <a:solidFill>
                        <a:srgbClr val="444444"/>
                      </a:solidFill>
                      <a:prstDash val="solid"/>
                      <a:round/>
                      <a:headEnd len="sm" w="sm" type="none"/>
                      <a:tailEnd len="sm" w="sm" type="none"/>
                    </a:lnB>
                    <a:solidFill>
                      <a:srgbClr val="333333"/>
                    </a:solidFill>
                  </a:tcPr>
                </a:tc>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49" name="Shape 249"/>
        <p:cNvGrpSpPr/>
        <p:nvPr/>
      </p:nvGrpSpPr>
      <p:grpSpPr>
        <a:xfrm>
          <a:off x="0" y="0"/>
          <a:ext cx="0" cy="0"/>
          <a:chOff x="0" y="0"/>
          <a:chExt cx="0" cy="0"/>
        </a:xfrm>
      </p:grpSpPr>
      <p:pic>
        <p:nvPicPr>
          <p:cNvPr id="250" name="Google Shape;250;p25"/>
          <p:cNvPicPr preferRelativeResize="0"/>
          <p:nvPr/>
        </p:nvPicPr>
        <p:blipFill>
          <a:blip r:embed="rId3">
            <a:alphaModFix/>
          </a:blip>
          <a:stretch>
            <a:fillRect/>
          </a:stretch>
        </p:blipFill>
        <p:spPr>
          <a:xfrm>
            <a:off x="151487" y="230225"/>
            <a:ext cx="8841025" cy="4683051"/>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55" name="Shape 255"/>
        <p:cNvGrpSpPr/>
        <p:nvPr/>
      </p:nvGrpSpPr>
      <p:grpSpPr>
        <a:xfrm>
          <a:off x="0" y="0"/>
          <a:ext cx="0" cy="0"/>
          <a:chOff x="0" y="0"/>
          <a:chExt cx="0" cy="0"/>
        </a:xfrm>
      </p:grpSpPr>
      <p:pic>
        <p:nvPicPr>
          <p:cNvPr id="256" name="Google Shape;256;p26"/>
          <p:cNvPicPr preferRelativeResize="0"/>
          <p:nvPr/>
        </p:nvPicPr>
        <p:blipFill>
          <a:blip r:embed="rId3">
            <a:alphaModFix/>
          </a:blip>
          <a:stretch>
            <a:fillRect/>
          </a:stretch>
        </p:blipFill>
        <p:spPr>
          <a:xfrm>
            <a:off x="121838" y="214513"/>
            <a:ext cx="8900324" cy="4714475"/>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61" name="Shape 261"/>
        <p:cNvGrpSpPr/>
        <p:nvPr/>
      </p:nvGrpSpPr>
      <p:grpSpPr>
        <a:xfrm>
          <a:off x="0" y="0"/>
          <a:ext cx="0" cy="0"/>
          <a:chOff x="0" y="0"/>
          <a:chExt cx="0" cy="0"/>
        </a:xfrm>
      </p:grpSpPr>
      <p:pic>
        <p:nvPicPr>
          <p:cNvPr descr="https://images.unsplash.com/photo-1504384308090-c894fdcc538d?w=1200" id="262" name="Google Shape;262;p27"/>
          <p:cNvPicPr preferRelativeResize="0"/>
          <p:nvPr/>
        </p:nvPicPr>
        <p:blipFill rotWithShape="1">
          <a:blip r:embed="rId3">
            <a:alphaModFix/>
          </a:blip>
          <a:srcRect b="0" l="0" r="0" t="0"/>
          <a:stretch/>
        </p:blipFill>
        <p:spPr>
          <a:xfrm>
            <a:off x="5943600" y="0"/>
            <a:ext cx="3200400" cy="5143500"/>
          </a:xfrm>
          <a:prstGeom prst="rect">
            <a:avLst/>
          </a:prstGeom>
          <a:noFill/>
          <a:ln>
            <a:noFill/>
          </a:ln>
        </p:spPr>
      </p:pic>
      <p:sp>
        <p:nvSpPr>
          <p:cNvPr id="263" name="Google Shape;263;p27"/>
          <p:cNvSpPr/>
          <p:nvPr/>
        </p:nvSpPr>
        <p:spPr>
          <a:xfrm>
            <a:off x="5943600" y="0"/>
            <a:ext cx="3200400" cy="5143500"/>
          </a:xfrm>
          <a:prstGeom prst="rect">
            <a:avLst/>
          </a:prstGeom>
          <a:solidFill>
            <a:srgbClr val="292929">
              <a:alpha val="37647"/>
            </a:srgbClr>
          </a:solidFill>
          <a:ln cap="flat" cmpd="sng" w="12700">
            <a:solidFill>
              <a:srgbClr val="FFFFFF">
                <a:alpha val="0"/>
              </a:srgbClr>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64" name="Google Shape;264;p27"/>
          <p:cNvSpPr/>
          <p:nvPr/>
        </p:nvSpPr>
        <p:spPr>
          <a:xfrm>
            <a:off x="468630" y="1666875"/>
            <a:ext cx="1905000" cy="595313"/>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7EC0DA"/>
                </a:solidFill>
                <a:latin typeface="Liter"/>
                <a:ea typeface="Liter"/>
                <a:cs typeface="Liter"/>
                <a:sym typeface="Liter"/>
              </a:rPr>
              <a:t>04</a:t>
            </a:r>
            <a:endParaRPr sz="3700">
              <a:solidFill>
                <a:schemeClr val="dk1"/>
              </a:solidFill>
              <a:latin typeface="Calibri"/>
              <a:ea typeface="Calibri"/>
              <a:cs typeface="Calibri"/>
              <a:sym typeface="Calibri"/>
            </a:endParaRPr>
          </a:p>
        </p:txBody>
      </p:sp>
      <p:sp>
        <p:nvSpPr>
          <p:cNvPr id="265" name="Google Shape;265;p27"/>
          <p:cNvSpPr/>
          <p:nvPr/>
        </p:nvSpPr>
        <p:spPr>
          <a:xfrm>
            <a:off x="468630" y="2333625"/>
            <a:ext cx="4762500" cy="762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Responsible AI &amp; Future</a:t>
            </a:r>
            <a:endParaRPr sz="2100">
              <a:solidFill>
                <a:schemeClr val="dk1"/>
              </a:solidFill>
              <a:latin typeface="Calibri"/>
              <a:ea typeface="Calibri"/>
              <a:cs typeface="Calibri"/>
              <a:sym typeface="Calibri"/>
            </a:endParaRPr>
          </a:p>
        </p:txBody>
      </p:sp>
      <p:sp>
        <p:nvSpPr>
          <p:cNvPr id="266" name="Google Shape;266;p27"/>
          <p:cNvSpPr/>
          <p:nvPr/>
        </p:nvSpPr>
        <p:spPr>
          <a:xfrm>
            <a:off x="468630" y="3143250"/>
            <a:ext cx="4286250" cy="381000"/>
          </a:xfrm>
          <a:prstGeom prst="rect">
            <a:avLst/>
          </a:prstGeom>
          <a:noFill/>
          <a:ln>
            <a:noFill/>
          </a:ln>
        </p:spPr>
        <p:txBody>
          <a:bodyPr anchorCtr="0" anchor="t" bIns="0" lIns="0" spcFirstLastPara="1" rIns="0" wrap="square" tIns="0">
            <a:noAutofit/>
          </a:bodyPr>
          <a:lstStyle/>
          <a:p>
            <a:pPr indent="0" lvl="0" marL="0" marR="0" rtl="0" algn="l">
              <a:lnSpc>
                <a:spcPct val="150134"/>
              </a:lnSpc>
              <a:spcBef>
                <a:spcPts val="0"/>
              </a:spcBef>
              <a:spcAft>
                <a:spcPts val="0"/>
              </a:spcAft>
              <a:buNone/>
            </a:pPr>
            <a:r>
              <a:rPr lang="en" sz="1400">
                <a:solidFill>
                  <a:srgbClr val="FFFFFF"/>
                </a:solidFill>
                <a:latin typeface="Liter"/>
                <a:ea typeface="Liter"/>
                <a:cs typeface="Liter"/>
                <a:sym typeface="Liter"/>
              </a:rPr>
              <a:t>Safety, ethics, and potential enhancements</a:t>
            </a:r>
            <a:endParaRPr sz="1400">
              <a:solidFill>
                <a:schemeClr val="dk1"/>
              </a:solidFill>
              <a:latin typeface="Calibri"/>
              <a:ea typeface="Calibri"/>
              <a:cs typeface="Calibri"/>
              <a:sym typeface="Calibri"/>
            </a:endParaRPr>
          </a:p>
        </p:txBody>
      </p:sp>
      <p:sp>
        <p:nvSpPr>
          <p:cNvPr id="267" name="Google Shape;267;p27"/>
          <p:cNvSpPr/>
          <p:nvPr/>
        </p:nvSpPr>
        <p:spPr>
          <a:xfrm>
            <a:off x="468630" y="3619500"/>
            <a:ext cx="714375"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272" name="Shape 272"/>
        <p:cNvGrpSpPr/>
        <p:nvPr/>
      </p:nvGrpSpPr>
      <p:grpSpPr>
        <a:xfrm>
          <a:off x="0" y="0"/>
          <a:ext cx="0" cy="0"/>
          <a:chOff x="0" y="0"/>
          <a:chExt cx="0" cy="0"/>
        </a:xfrm>
      </p:grpSpPr>
      <p:sp>
        <p:nvSpPr>
          <p:cNvPr id="273" name="Google Shape;273;p28"/>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Hallucination Handling &amp; Guardrails</a:t>
            </a:r>
            <a:endParaRPr sz="2100">
              <a:solidFill>
                <a:schemeClr val="dk1"/>
              </a:solidFill>
              <a:latin typeface="Calibri"/>
              <a:ea typeface="Calibri"/>
              <a:cs typeface="Calibri"/>
              <a:sym typeface="Calibri"/>
            </a:endParaRPr>
          </a:p>
        </p:txBody>
      </p:sp>
      <p:sp>
        <p:nvSpPr>
          <p:cNvPr id="274" name="Google Shape;274;p28"/>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75" name="Google Shape;275;p28"/>
          <p:cNvSpPr/>
          <p:nvPr/>
        </p:nvSpPr>
        <p:spPr>
          <a:xfrm>
            <a:off x="466725" y="1390650"/>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76" name="Google Shape;276;p28"/>
          <p:cNvSpPr/>
          <p:nvPr/>
        </p:nvSpPr>
        <p:spPr>
          <a:xfrm>
            <a:off x="657225" y="1285875"/>
            <a:ext cx="333375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Context-Only Answers</a:t>
            </a:r>
            <a:endParaRPr sz="1500">
              <a:solidFill>
                <a:srgbClr val="7EC0DA"/>
              </a:solidFill>
              <a:latin typeface="Calibri"/>
              <a:ea typeface="Calibri"/>
              <a:cs typeface="Calibri"/>
              <a:sym typeface="Calibri"/>
            </a:endParaRPr>
          </a:p>
        </p:txBody>
      </p:sp>
      <p:sp>
        <p:nvSpPr>
          <p:cNvPr id="277" name="Google Shape;277;p28"/>
          <p:cNvSpPr/>
          <p:nvPr/>
        </p:nvSpPr>
        <p:spPr>
          <a:xfrm>
            <a:off x="657225" y="1547813"/>
            <a:ext cx="3333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LLM prompt explicitly instructs: "answer ONLY from provided context." No external knowledge allowed.</a:t>
            </a:r>
            <a:endParaRPr sz="1100">
              <a:solidFill>
                <a:schemeClr val="dk1"/>
              </a:solidFill>
              <a:latin typeface="Calibri"/>
              <a:ea typeface="Calibri"/>
              <a:cs typeface="Calibri"/>
              <a:sym typeface="Calibri"/>
            </a:endParaRPr>
          </a:p>
        </p:txBody>
      </p:sp>
      <p:sp>
        <p:nvSpPr>
          <p:cNvPr id="278" name="Google Shape;278;p28"/>
          <p:cNvSpPr/>
          <p:nvPr/>
        </p:nvSpPr>
        <p:spPr>
          <a:xfrm>
            <a:off x="466725" y="2100263"/>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79" name="Google Shape;279;p28"/>
          <p:cNvSpPr/>
          <p:nvPr/>
        </p:nvSpPr>
        <p:spPr>
          <a:xfrm>
            <a:off x="657225" y="2000250"/>
            <a:ext cx="333375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Out-of-Scope Messaging</a:t>
            </a:r>
            <a:endParaRPr sz="1500">
              <a:solidFill>
                <a:srgbClr val="7EC0DA"/>
              </a:solidFill>
              <a:latin typeface="Calibri"/>
              <a:ea typeface="Calibri"/>
              <a:cs typeface="Calibri"/>
              <a:sym typeface="Calibri"/>
            </a:endParaRPr>
          </a:p>
        </p:txBody>
      </p:sp>
      <p:sp>
        <p:nvSpPr>
          <p:cNvPr id="280" name="Google Shape;280;p28"/>
          <p:cNvSpPr/>
          <p:nvPr/>
        </p:nvSpPr>
        <p:spPr>
          <a:xfrm>
            <a:off x="657225" y="2262188"/>
            <a:ext cx="3333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Clear fallback: "I could not find this in the indexed documents." No hedging, no fabricated guesses.</a:t>
            </a:r>
            <a:endParaRPr sz="1100">
              <a:solidFill>
                <a:schemeClr val="dk1"/>
              </a:solidFill>
              <a:latin typeface="Calibri"/>
              <a:ea typeface="Calibri"/>
              <a:cs typeface="Calibri"/>
              <a:sym typeface="Calibri"/>
            </a:endParaRPr>
          </a:p>
        </p:txBody>
      </p:sp>
      <p:sp>
        <p:nvSpPr>
          <p:cNvPr id="281" name="Google Shape;281;p28"/>
          <p:cNvSpPr/>
          <p:nvPr/>
        </p:nvSpPr>
        <p:spPr>
          <a:xfrm>
            <a:off x="466725" y="2833688"/>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2" name="Google Shape;282;p28"/>
          <p:cNvSpPr/>
          <p:nvPr/>
        </p:nvSpPr>
        <p:spPr>
          <a:xfrm>
            <a:off x="657225" y="2714625"/>
            <a:ext cx="333375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Structured Summary Format</a:t>
            </a:r>
            <a:endParaRPr sz="1500">
              <a:solidFill>
                <a:srgbClr val="7EC0DA"/>
              </a:solidFill>
              <a:latin typeface="Calibri"/>
              <a:ea typeface="Calibri"/>
              <a:cs typeface="Calibri"/>
              <a:sym typeface="Calibri"/>
            </a:endParaRPr>
          </a:p>
        </p:txBody>
      </p:sp>
      <p:sp>
        <p:nvSpPr>
          <p:cNvPr id="283" name="Google Shape;283;p28"/>
          <p:cNvSpPr/>
          <p:nvPr/>
        </p:nvSpPr>
        <p:spPr>
          <a:xfrm>
            <a:off x="657225" y="2976563"/>
            <a:ext cx="3333750" cy="6191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Background, key arguments, outcome schema prevents free-form hallucination. JSON-structured output where possible.</a:t>
            </a:r>
            <a:endParaRPr sz="1100">
              <a:solidFill>
                <a:schemeClr val="dk1"/>
              </a:solidFill>
              <a:latin typeface="Calibri"/>
              <a:ea typeface="Calibri"/>
              <a:cs typeface="Calibri"/>
              <a:sym typeface="Calibri"/>
            </a:endParaRPr>
          </a:p>
        </p:txBody>
      </p:sp>
      <p:sp>
        <p:nvSpPr>
          <p:cNvPr id="284" name="Google Shape;284;p28"/>
          <p:cNvSpPr/>
          <p:nvPr/>
        </p:nvSpPr>
        <p:spPr>
          <a:xfrm>
            <a:off x="466725" y="3762375"/>
            <a:ext cx="95250" cy="9525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5" name="Google Shape;285;p28"/>
          <p:cNvSpPr/>
          <p:nvPr/>
        </p:nvSpPr>
        <p:spPr>
          <a:xfrm>
            <a:off x="657225" y="3667125"/>
            <a:ext cx="3333750" cy="23812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Document Type Validation</a:t>
            </a:r>
            <a:endParaRPr sz="1500">
              <a:solidFill>
                <a:srgbClr val="7EC0DA"/>
              </a:solidFill>
              <a:latin typeface="Calibri"/>
              <a:ea typeface="Calibri"/>
              <a:cs typeface="Calibri"/>
              <a:sym typeface="Calibri"/>
            </a:endParaRPr>
          </a:p>
        </p:txBody>
      </p:sp>
      <p:sp>
        <p:nvSpPr>
          <p:cNvPr id="286" name="Google Shape;286;p28"/>
          <p:cNvSpPr/>
          <p:nvPr/>
        </p:nvSpPr>
        <p:spPr>
          <a:xfrm>
            <a:off x="657225" y="3929063"/>
            <a:ext cx="3333750" cy="619125"/>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is_legal_document() check before processing uploads. Non-legal content rejected with clear explanation.</a:t>
            </a:r>
            <a:endParaRPr sz="1100">
              <a:solidFill>
                <a:schemeClr val="dk1"/>
              </a:solidFill>
              <a:latin typeface="Calibri"/>
              <a:ea typeface="Calibri"/>
              <a:cs typeface="Calibri"/>
              <a:sym typeface="Calibri"/>
            </a:endParaRPr>
          </a:p>
        </p:txBody>
      </p:sp>
      <p:sp>
        <p:nvSpPr>
          <p:cNvPr id="287" name="Google Shape;287;p28"/>
          <p:cNvSpPr/>
          <p:nvPr/>
        </p:nvSpPr>
        <p:spPr>
          <a:xfrm>
            <a:off x="4381500" y="1285875"/>
            <a:ext cx="4286250" cy="2762250"/>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88" name="Google Shape;288;p28"/>
          <p:cNvSpPr/>
          <p:nvPr/>
        </p:nvSpPr>
        <p:spPr>
          <a:xfrm>
            <a:off x="4572000" y="1428750"/>
            <a:ext cx="238125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ADDITIONAL GUARDRAILS</a:t>
            </a:r>
            <a:endParaRPr sz="1500">
              <a:solidFill>
                <a:srgbClr val="7EC0DA"/>
              </a:solidFill>
              <a:latin typeface="Calibri"/>
              <a:ea typeface="Calibri"/>
              <a:cs typeface="Calibri"/>
              <a:sym typeface="Calibri"/>
            </a:endParaRPr>
          </a:p>
        </p:txBody>
      </p:sp>
      <p:sp>
        <p:nvSpPr>
          <p:cNvPr id="289" name="Google Shape;289;p28"/>
          <p:cNvSpPr/>
          <p:nvPr/>
        </p:nvSpPr>
        <p:spPr>
          <a:xfrm>
            <a:off x="4572000" y="1847850"/>
            <a:ext cx="76200" cy="7620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0" name="Google Shape;290;p28"/>
          <p:cNvSpPr/>
          <p:nvPr/>
        </p:nvSpPr>
        <p:spPr>
          <a:xfrm>
            <a:off x="4714875" y="1785938"/>
            <a:ext cx="3762375" cy="261938"/>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No raw similarity scores or distances exposed to users</a:t>
            </a:r>
            <a:endParaRPr sz="1100">
              <a:solidFill>
                <a:schemeClr val="dk1"/>
              </a:solidFill>
              <a:latin typeface="Calibri"/>
              <a:ea typeface="Calibri"/>
              <a:cs typeface="Calibri"/>
              <a:sym typeface="Calibri"/>
            </a:endParaRPr>
          </a:p>
        </p:txBody>
      </p:sp>
      <p:sp>
        <p:nvSpPr>
          <p:cNvPr id="291" name="Google Shape;291;p28"/>
          <p:cNvSpPr/>
          <p:nvPr/>
        </p:nvSpPr>
        <p:spPr>
          <a:xfrm>
            <a:off x="4572000" y="2162175"/>
            <a:ext cx="76200" cy="7620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2" name="Google Shape;292;p28"/>
          <p:cNvSpPr/>
          <p:nvPr/>
        </p:nvSpPr>
        <p:spPr>
          <a:xfrm>
            <a:off x="4714875" y="2095500"/>
            <a:ext cx="3762375" cy="404813"/>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Session isolation: uploads stay in ephemeral memory, never pollute base corpus</a:t>
            </a:r>
            <a:endParaRPr sz="1100">
              <a:solidFill>
                <a:schemeClr val="dk1"/>
              </a:solidFill>
              <a:latin typeface="Calibri"/>
              <a:ea typeface="Calibri"/>
              <a:cs typeface="Calibri"/>
              <a:sym typeface="Calibri"/>
            </a:endParaRPr>
          </a:p>
        </p:txBody>
      </p:sp>
      <p:sp>
        <p:nvSpPr>
          <p:cNvPr id="293" name="Google Shape;293;p28"/>
          <p:cNvSpPr/>
          <p:nvPr/>
        </p:nvSpPr>
        <p:spPr>
          <a:xfrm>
            <a:off x="4572000" y="2619375"/>
            <a:ext cx="76200" cy="7620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4" name="Google Shape;294;p28"/>
          <p:cNvSpPr/>
          <p:nvPr/>
        </p:nvSpPr>
        <p:spPr>
          <a:xfrm>
            <a:off x="4714875" y="2547938"/>
            <a:ext cx="3762375" cy="404813"/>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Retry logic with exponential backoff for LLM API failures (3 attempts)</a:t>
            </a:r>
            <a:endParaRPr sz="1100">
              <a:solidFill>
                <a:schemeClr val="dk1"/>
              </a:solidFill>
              <a:latin typeface="Calibri"/>
              <a:ea typeface="Calibri"/>
              <a:cs typeface="Calibri"/>
              <a:sym typeface="Calibri"/>
            </a:endParaRPr>
          </a:p>
        </p:txBody>
      </p:sp>
      <p:sp>
        <p:nvSpPr>
          <p:cNvPr id="295" name="Google Shape;295;p28"/>
          <p:cNvSpPr/>
          <p:nvPr/>
        </p:nvSpPr>
        <p:spPr>
          <a:xfrm>
            <a:off x="4572000" y="3067050"/>
            <a:ext cx="76200" cy="7620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6" name="Google Shape;296;p28"/>
          <p:cNvSpPr/>
          <p:nvPr/>
        </p:nvSpPr>
        <p:spPr>
          <a:xfrm>
            <a:off x="4714875" y="3000375"/>
            <a:ext cx="3762375" cy="404813"/>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Explicit prompt prohibition against making up information not in context</a:t>
            </a:r>
            <a:endParaRPr sz="1100">
              <a:solidFill>
                <a:schemeClr val="dk1"/>
              </a:solidFill>
              <a:latin typeface="Calibri"/>
              <a:ea typeface="Calibri"/>
              <a:cs typeface="Calibri"/>
              <a:sym typeface="Calibri"/>
            </a:endParaRPr>
          </a:p>
        </p:txBody>
      </p:sp>
      <p:sp>
        <p:nvSpPr>
          <p:cNvPr id="297" name="Google Shape;297;p28"/>
          <p:cNvSpPr/>
          <p:nvPr/>
        </p:nvSpPr>
        <p:spPr>
          <a:xfrm>
            <a:off x="4572000" y="3514725"/>
            <a:ext cx="76200" cy="76200"/>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98" name="Google Shape;298;p28"/>
          <p:cNvSpPr/>
          <p:nvPr/>
        </p:nvSpPr>
        <p:spPr>
          <a:xfrm>
            <a:off x="4714875" y="3452813"/>
            <a:ext cx="3762375" cy="404813"/>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FFFFFF"/>
                </a:solidFill>
                <a:latin typeface="Liter"/>
                <a:ea typeface="Liter"/>
                <a:cs typeface="Liter"/>
                <a:sym typeface="Liter"/>
              </a:rPr>
              <a:t>Index build status tracking: pending / building / ready / failed</a:t>
            </a:r>
            <a:endParaRPr sz="1100">
              <a:solidFill>
                <a:schemeClr val="dk1"/>
              </a:solidFill>
              <a:latin typeface="Calibri"/>
              <a:ea typeface="Calibri"/>
              <a:cs typeface="Calibri"/>
              <a:sym typeface="Calibri"/>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303" name="Shape 303"/>
        <p:cNvGrpSpPr/>
        <p:nvPr/>
      </p:nvGrpSpPr>
      <p:grpSpPr>
        <a:xfrm>
          <a:off x="0" y="0"/>
          <a:ext cx="0" cy="0"/>
          <a:chOff x="0" y="0"/>
          <a:chExt cx="0" cy="0"/>
        </a:xfrm>
      </p:grpSpPr>
      <p:sp>
        <p:nvSpPr>
          <p:cNvPr id="304" name="Google Shape;304;p29"/>
          <p:cNvSpPr/>
          <p:nvPr/>
        </p:nvSpPr>
        <p:spPr>
          <a:xfrm>
            <a:off x="468630" y="381000"/>
            <a:ext cx="6667500" cy="6191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 sz="2100">
                <a:solidFill>
                  <a:srgbClr val="FFFFFF"/>
                </a:solidFill>
                <a:latin typeface="Liter"/>
                <a:ea typeface="Liter"/>
                <a:cs typeface="Liter"/>
                <a:sym typeface="Liter"/>
              </a:rPr>
              <a:t>Ethical Considerations &amp; Failure Scenarios</a:t>
            </a:r>
            <a:endParaRPr sz="2100">
              <a:solidFill>
                <a:schemeClr val="dk1"/>
              </a:solidFill>
              <a:latin typeface="Calibri"/>
              <a:ea typeface="Calibri"/>
              <a:cs typeface="Calibri"/>
              <a:sym typeface="Calibri"/>
            </a:endParaRPr>
          </a:p>
        </p:txBody>
      </p:sp>
      <p:sp>
        <p:nvSpPr>
          <p:cNvPr id="305" name="Google Shape;305;p29"/>
          <p:cNvSpPr/>
          <p:nvPr/>
        </p:nvSpPr>
        <p:spPr>
          <a:xfrm>
            <a:off x="468630" y="1047750"/>
            <a:ext cx="571500"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06" name="Google Shape;306;p29"/>
          <p:cNvSpPr/>
          <p:nvPr/>
        </p:nvSpPr>
        <p:spPr>
          <a:xfrm>
            <a:off x="466725" y="1285875"/>
            <a:ext cx="38100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ETHICAL CONSIDERATIONS</a:t>
            </a:r>
            <a:endParaRPr sz="1500">
              <a:solidFill>
                <a:schemeClr val="dk1"/>
              </a:solidFill>
              <a:latin typeface="Calibri"/>
              <a:ea typeface="Calibri"/>
              <a:cs typeface="Calibri"/>
              <a:sym typeface="Calibri"/>
            </a:endParaRPr>
          </a:p>
        </p:txBody>
      </p:sp>
      <p:sp>
        <p:nvSpPr>
          <p:cNvPr id="307" name="Google Shape;307;p29"/>
          <p:cNvSpPr/>
          <p:nvPr/>
        </p:nvSpPr>
        <p:spPr>
          <a:xfrm>
            <a:off x="466725" y="1666875"/>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08" name="Google Shape;308;p29"/>
          <p:cNvSpPr/>
          <p:nvPr/>
        </p:nvSpPr>
        <p:spPr>
          <a:xfrm>
            <a:off x="642938" y="1619250"/>
            <a:ext cx="3714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b="1" lang="en" sz="1100">
                <a:solidFill>
                  <a:srgbClr val="FFFFFF"/>
                </a:solidFill>
                <a:latin typeface="Liter"/>
                <a:ea typeface="Liter"/>
                <a:cs typeface="Liter"/>
                <a:sym typeface="Liter"/>
              </a:rPr>
              <a:t>Not legal advice:</a:t>
            </a:r>
            <a:r>
              <a:rPr lang="en" sz="1100">
                <a:solidFill>
                  <a:srgbClr val="FFFFFF"/>
                </a:solidFill>
                <a:latin typeface="Liter"/>
                <a:ea typeface="Liter"/>
                <a:cs typeface="Liter"/>
                <a:sym typeface="Liter"/>
              </a:rPr>
              <a:t> Tool provides information only, must not replace qualified legal counsel</a:t>
            </a:r>
            <a:endParaRPr sz="1100">
              <a:solidFill>
                <a:schemeClr val="dk1"/>
              </a:solidFill>
              <a:latin typeface="Calibri"/>
              <a:ea typeface="Calibri"/>
              <a:cs typeface="Calibri"/>
              <a:sym typeface="Calibri"/>
            </a:endParaRPr>
          </a:p>
        </p:txBody>
      </p:sp>
      <p:sp>
        <p:nvSpPr>
          <p:cNvPr id="309" name="Google Shape;309;p29"/>
          <p:cNvSpPr/>
          <p:nvPr/>
        </p:nvSpPr>
        <p:spPr>
          <a:xfrm>
            <a:off x="466725" y="2095500"/>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0" name="Google Shape;310;p29"/>
          <p:cNvSpPr/>
          <p:nvPr/>
        </p:nvSpPr>
        <p:spPr>
          <a:xfrm>
            <a:off x="642938" y="2047875"/>
            <a:ext cx="3714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b="1" lang="en" sz="1100">
                <a:solidFill>
                  <a:srgbClr val="FFFFFF"/>
                </a:solidFill>
                <a:latin typeface="Liter"/>
                <a:ea typeface="Liter"/>
                <a:cs typeface="Liter"/>
                <a:sym typeface="Liter"/>
              </a:rPr>
              <a:t>Accessibility:</a:t>
            </a:r>
            <a:r>
              <a:rPr lang="en" sz="1100">
                <a:solidFill>
                  <a:srgbClr val="FFFFFF"/>
                </a:solidFill>
                <a:latin typeface="Liter"/>
                <a:ea typeface="Liter"/>
                <a:cs typeface="Liter"/>
                <a:sym typeface="Liter"/>
              </a:rPr>
              <a:t> WCAG AA compliance, visible focus states, respects prefers-reduced-motion</a:t>
            </a:r>
            <a:endParaRPr sz="1100">
              <a:solidFill>
                <a:schemeClr val="dk1"/>
              </a:solidFill>
              <a:latin typeface="Calibri"/>
              <a:ea typeface="Calibri"/>
              <a:cs typeface="Calibri"/>
              <a:sym typeface="Calibri"/>
            </a:endParaRPr>
          </a:p>
        </p:txBody>
      </p:sp>
      <p:sp>
        <p:nvSpPr>
          <p:cNvPr id="311" name="Google Shape;311;p29"/>
          <p:cNvSpPr/>
          <p:nvPr/>
        </p:nvSpPr>
        <p:spPr>
          <a:xfrm>
            <a:off x="466725" y="2524125"/>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2" name="Google Shape;312;p29"/>
          <p:cNvSpPr/>
          <p:nvPr/>
        </p:nvSpPr>
        <p:spPr>
          <a:xfrm>
            <a:off x="642938" y="2476500"/>
            <a:ext cx="3714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b="1" lang="en" sz="1100">
                <a:solidFill>
                  <a:srgbClr val="FFFFFF"/>
                </a:solidFill>
                <a:latin typeface="Liter"/>
                <a:ea typeface="Liter"/>
                <a:cs typeface="Liter"/>
                <a:sym typeface="Liter"/>
              </a:rPr>
              <a:t>Bias awareness:</a:t>
            </a:r>
            <a:r>
              <a:rPr lang="en" sz="1100">
                <a:solidFill>
                  <a:srgbClr val="FFFFFF"/>
                </a:solidFill>
                <a:latin typeface="Liter"/>
                <a:ea typeface="Liter"/>
                <a:cs typeface="Liter"/>
                <a:sym typeface="Liter"/>
              </a:rPr>
              <a:t> Training data may reflect historical biases in judicial outcomes</a:t>
            </a:r>
            <a:endParaRPr sz="1100">
              <a:solidFill>
                <a:schemeClr val="dk1"/>
              </a:solidFill>
              <a:latin typeface="Calibri"/>
              <a:ea typeface="Calibri"/>
              <a:cs typeface="Calibri"/>
              <a:sym typeface="Calibri"/>
            </a:endParaRPr>
          </a:p>
        </p:txBody>
      </p:sp>
      <p:sp>
        <p:nvSpPr>
          <p:cNvPr id="313" name="Google Shape;313;p29"/>
          <p:cNvSpPr/>
          <p:nvPr/>
        </p:nvSpPr>
        <p:spPr>
          <a:xfrm>
            <a:off x="466725" y="2952750"/>
            <a:ext cx="80963" cy="80963"/>
          </a:xfrm>
          <a:prstGeom prst="ellipse">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4" name="Google Shape;314;p29"/>
          <p:cNvSpPr/>
          <p:nvPr/>
        </p:nvSpPr>
        <p:spPr>
          <a:xfrm>
            <a:off x="642938" y="2905125"/>
            <a:ext cx="3714750" cy="3810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b="1" lang="en" sz="1100">
                <a:solidFill>
                  <a:srgbClr val="FFFFFF"/>
                </a:solidFill>
                <a:latin typeface="Liter"/>
                <a:ea typeface="Liter"/>
                <a:cs typeface="Liter"/>
                <a:sym typeface="Liter"/>
              </a:rPr>
              <a:t>Privacy:</a:t>
            </a:r>
            <a:r>
              <a:rPr lang="en" sz="1100">
                <a:solidFill>
                  <a:srgbClr val="FFFFFF"/>
                </a:solidFill>
                <a:latin typeface="Liter"/>
                <a:ea typeface="Liter"/>
                <a:cs typeface="Liter"/>
                <a:sym typeface="Liter"/>
              </a:rPr>
              <a:t> Session data is ephemeral (in-memory only), no persistent storage of uploads</a:t>
            </a:r>
            <a:endParaRPr sz="1100">
              <a:solidFill>
                <a:schemeClr val="dk1"/>
              </a:solidFill>
              <a:latin typeface="Calibri"/>
              <a:ea typeface="Calibri"/>
              <a:cs typeface="Calibri"/>
              <a:sym typeface="Calibri"/>
            </a:endParaRPr>
          </a:p>
        </p:txBody>
      </p:sp>
      <p:sp>
        <p:nvSpPr>
          <p:cNvPr id="315" name="Google Shape;315;p29"/>
          <p:cNvSpPr/>
          <p:nvPr/>
        </p:nvSpPr>
        <p:spPr>
          <a:xfrm>
            <a:off x="4667250" y="1285875"/>
            <a:ext cx="4000500" cy="261938"/>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C0504D"/>
                </a:solidFill>
                <a:latin typeface="Liter"/>
                <a:ea typeface="Liter"/>
                <a:cs typeface="Liter"/>
                <a:sym typeface="Liter"/>
              </a:rPr>
              <a:t>FAILURE SCENARIOS &amp; FALLBACKS</a:t>
            </a:r>
            <a:endParaRPr sz="1500">
              <a:solidFill>
                <a:schemeClr val="dk1"/>
              </a:solidFill>
              <a:latin typeface="Calibri"/>
              <a:ea typeface="Calibri"/>
              <a:cs typeface="Calibri"/>
              <a:sym typeface="Calibri"/>
            </a:endParaRPr>
          </a:p>
        </p:txBody>
      </p:sp>
      <p:sp>
        <p:nvSpPr>
          <p:cNvPr id="316" name="Google Shape;316;p29"/>
          <p:cNvSpPr/>
          <p:nvPr/>
        </p:nvSpPr>
        <p:spPr>
          <a:xfrm>
            <a:off x="4667250" y="1619250"/>
            <a:ext cx="4000500" cy="52387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17" name="Google Shape;317;p29"/>
          <p:cNvSpPr/>
          <p:nvPr/>
        </p:nvSpPr>
        <p:spPr>
          <a:xfrm>
            <a:off x="4762500" y="1666875"/>
            <a:ext cx="1905000" cy="19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000">
                <a:solidFill>
                  <a:srgbClr val="C0504D"/>
                </a:solidFill>
                <a:latin typeface="Liter"/>
                <a:ea typeface="Liter"/>
                <a:cs typeface="Liter"/>
                <a:sym typeface="Liter"/>
              </a:rPr>
              <a:t>LLM API Rate Limits</a:t>
            </a:r>
            <a:endParaRPr sz="1000">
              <a:solidFill>
                <a:schemeClr val="dk1"/>
              </a:solidFill>
              <a:latin typeface="Calibri"/>
              <a:ea typeface="Calibri"/>
              <a:cs typeface="Calibri"/>
              <a:sym typeface="Calibri"/>
            </a:endParaRPr>
          </a:p>
        </p:txBody>
      </p:sp>
      <p:sp>
        <p:nvSpPr>
          <p:cNvPr id="318" name="Google Shape;318;p29"/>
          <p:cNvSpPr/>
          <p:nvPr/>
        </p:nvSpPr>
        <p:spPr>
          <a:xfrm>
            <a:off x="4762500" y="1881188"/>
            <a:ext cx="3810000" cy="1905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lang="en" sz="900">
                <a:solidFill>
                  <a:schemeClr val="lt1"/>
                </a:solidFill>
                <a:latin typeface="Liter"/>
                <a:ea typeface="Liter"/>
                <a:cs typeface="Liter"/>
                <a:sym typeface="Liter"/>
              </a:rPr>
              <a:t>3 retries with exponential backoff. Clear error message if all fail.</a:t>
            </a:r>
            <a:endParaRPr sz="900">
              <a:solidFill>
                <a:schemeClr val="lt1"/>
              </a:solidFill>
              <a:latin typeface="Calibri"/>
              <a:ea typeface="Calibri"/>
              <a:cs typeface="Calibri"/>
              <a:sym typeface="Calibri"/>
            </a:endParaRPr>
          </a:p>
        </p:txBody>
      </p:sp>
      <p:sp>
        <p:nvSpPr>
          <p:cNvPr id="319" name="Google Shape;319;p29"/>
          <p:cNvSpPr/>
          <p:nvPr/>
        </p:nvSpPr>
        <p:spPr>
          <a:xfrm>
            <a:off x="4667250" y="2238375"/>
            <a:ext cx="4000500" cy="52387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20" name="Google Shape;320;p29"/>
          <p:cNvSpPr/>
          <p:nvPr/>
        </p:nvSpPr>
        <p:spPr>
          <a:xfrm>
            <a:off x="4762500" y="2286000"/>
            <a:ext cx="1905000" cy="19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000">
                <a:solidFill>
                  <a:srgbClr val="C0504D"/>
                </a:solidFill>
                <a:latin typeface="Liter"/>
                <a:ea typeface="Liter"/>
                <a:cs typeface="Liter"/>
                <a:sym typeface="Liter"/>
              </a:rPr>
              <a:t>Index Build Failure</a:t>
            </a:r>
            <a:endParaRPr sz="1000">
              <a:solidFill>
                <a:schemeClr val="dk1"/>
              </a:solidFill>
              <a:latin typeface="Calibri"/>
              <a:ea typeface="Calibri"/>
              <a:cs typeface="Calibri"/>
              <a:sym typeface="Calibri"/>
            </a:endParaRPr>
          </a:p>
        </p:txBody>
      </p:sp>
      <p:sp>
        <p:nvSpPr>
          <p:cNvPr id="321" name="Google Shape;321;p29"/>
          <p:cNvSpPr/>
          <p:nvPr/>
        </p:nvSpPr>
        <p:spPr>
          <a:xfrm>
            <a:off x="4762500" y="2500313"/>
            <a:ext cx="3810000" cy="1905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lang="en" sz="900">
                <a:solidFill>
                  <a:schemeClr val="lt1"/>
                </a:solidFill>
                <a:latin typeface="Liter"/>
                <a:ea typeface="Liter"/>
                <a:cs typeface="Liter"/>
                <a:sym typeface="Liter"/>
              </a:rPr>
              <a:t>Graceful state tracking: pending / building / ready / failed. User notified.</a:t>
            </a:r>
            <a:endParaRPr sz="900">
              <a:solidFill>
                <a:schemeClr val="lt1"/>
              </a:solidFill>
              <a:latin typeface="Calibri"/>
              <a:ea typeface="Calibri"/>
              <a:cs typeface="Calibri"/>
              <a:sym typeface="Calibri"/>
            </a:endParaRPr>
          </a:p>
        </p:txBody>
      </p:sp>
      <p:sp>
        <p:nvSpPr>
          <p:cNvPr id="322" name="Google Shape;322;p29"/>
          <p:cNvSpPr/>
          <p:nvPr/>
        </p:nvSpPr>
        <p:spPr>
          <a:xfrm>
            <a:off x="4667250" y="2857500"/>
            <a:ext cx="4000500" cy="52387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23" name="Google Shape;323;p29"/>
          <p:cNvSpPr/>
          <p:nvPr/>
        </p:nvSpPr>
        <p:spPr>
          <a:xfrm>
            <a:off x="4762500" y="2905125"/>
            <a:ext cx="1905000" cy="19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000">
                <a:solidFill>
                  <a:srgbClr val="C0504D"/>
                </a:solidFill>
                <a:latin typeface="Liter"/>
                <a:ea typeface="Liter"/>
                <a:cs typeface="Liter"/>
                <a:sym typeface="Liter"/>
              </a:rPr>
              <a:t>Non-Legal Uploads</a:t>
            </a:r>
            <a:endParaRPr sz="1000">
              <a:solidFill>
                <a:schemeClr val="dk1"/>
              </a:solidFill>
              <a:latin typeface="Calibri"/>
              <a:ea typeface="Calibri"/>
              <a:cs typeface="Calibri"/>
              <a:sym typeface="Calibri"/>
            </a:endParaRPr>
          </a:p>
        </p:txBody>
      </p:sp>
      <p:sp>
        <p:nvSpPr>
          <p:cNvPr id="324" name="Google Shape;324;p29"/>
          <p:cNvSpPr/>
          <p:nvPr/>
        </p:nvSpPr>
        <p:spPr>
          <a:xfrm>
            <a:off x="4762500" y="3119438"/>
            <a:ext cx="3810000" cy="1905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lang="en" sz="900">
                <a:solidFill>
                  <a:schemeClr val="lt1"/>
                </a:solidFill>
                <a:latin typeface="Liter"/>
                <a:ea typeface="Liter"/>
                <a:cs typeface="Liter"/>
                <a:sym typeface="Liter"/>
              </a:rPr>
              <a:t>Rejected with clear message. Document type validation at upload.</a:t>
            </a:r>
            <a:endParaRPr sz="900">
              <a:solidFill>
                <a:schemeClr val="lt1"/>
              </a:solidFill>
              <a:latin typeface="Calibri"/>
              <a:ea typeface="Calibri"/>
              <a:cs typeface="Calibri"/>
              <a:sym typeface="Calibri"/>
            </a:endParaRPr>
          </a:p>
        </p:txBody>
      </p:sp>
      <p:sp>
        <p:nvSpPr>
          <p:cNvPr id="325" name="Google Shape;325;p29"/>
          <p:cNvSpPr/>
          <p:nvPr/>
        </p:nvSpPr>
        <p:spPr>
          <a:xfrm>
            <a:off x="4667250" y="3476625"/>
            <a:ext cx="4000500" cy="523875"/>
          </a:xfrm>
          <a:prstGeom prst="rect">
            <a:avLst/>
          </a:prstGeom>
          <a:solidFill>
            <a:srgbClr val="1A1A1A"/>
          </a:solidFill>
          <a:ln cap="flat" cmpd="sng" w="12700">
            <a:solidFill>
              <a:srgbClr val="444444"/>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26" name="Google Shape;326;p29"/>
          <p:cNvSpPr/>
          <p:nvPr/>
        </p:nvSpPr>
        <p:spPr>
          <a:xfrm>
            <a:off x="4762500" y="3524250"/>
            <a:ext cx="2381250" cy="19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000">
                <a:solidFill>
                  <a:srgbClr val="C0504D"/>
                </a:solidFill>
                <a:latin typeface="Liter"/>
                <a:ea typeface="Liter"/>
                <a:cs typeface="Liter"/>
                <a:sym typeface="Liter"/>
              </a:rPr>
              <a:t>Out-of-Scope Questions</a:t>
            </a:r>
            <a:endParaRPr sz="1000">
              <a:solidFill>
                <a:schemeClr val="dk1"/>
              </a:solidFill>
              <a:latin typeface="Calibri"/>
              <a:ea typeface="Calibri"/>
              <a:cs typeface="Calibri"/>
              <a:sym typeface="Calibri"/>
            </a:endParaRPr>
          </a:p>
        </p:txBody>
      </p:sp>
      <p:sp>
        <p:nvSpPr>
          <p:cNvPr id="327" name="Google Shape;327;p29"/>
          <p:cNvSpPr/>
          <p:nvPr/>
        </p:nvSpPr>
        <p:spPr>
          <a:xfrm>
            <a:off x="4762500" y="3738563"/>
            <a:ext cx="3810000" cy="1905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lang="en" sz="900">
                <a:solidFill>
                  <a:schemeClr val="lt1"/>
                </a:solidFill>
                <a:latin typeface="Liter"/>
                <a:ea typeface="Liter"/>
                <a:cs typeface="Liter"/>
                <a:sym typeface="Liter"/>
              </a:rPr>
              <a:t>Answered honestly with scope clarification. No fabricated responses.</a:t>
            </a:r>
            <a:endParaRPr sz="900">
              <a:solidFill>
                <a:schemeClr val="lt1"/>
              </a:solidFill>
              <a:latin typeface="Calibri"/>
              <a:ea typeface="Calibri"/>
              <a:cs typeface="Calibri"/>
              <a:sym typeface="Calibri"/>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2929"/>
        </a:solidFill>
      </p:bgPr>
    </p:bg>
    <p:spTree>
      <p:nvGrpSpPr>
        <p:cNvPr id="332" name="Shape 332"/>
        <p:cNvGrpSpPr/>
        <p:nvPr/>
      </p:nvGrpSpPr>
      <p:grpSpPr>
        <a:xfrm>
          <a:off x="0" y="0"/>
          <a:ext cx="0" cy="0"/>
          <a:chOff x="0" y="0"/>
          <a:chExt cx="0" cy="0"/>
        </a:xfrm>
      </p:grpSpPr>
      <p:pic>
        <p:nvPicPr>
          <p:cNvPr descr="https://images.unsplash.com/photo-1589829545856-d10d557cf95f?w=1200" id="333" name="Google Shape;333;p30"/>
          <p:cNvPicPr preferRelativeResize="0"/>
          <p:nvPr/>
        </p:nvPicPr>
        <p:blipFill rotWithShape="1">
          <a:blip r:embed="rId3">
            <a:alphaModFix/>
          </a:blip>
          <a:srcRect b="0" l="0" r="0" t="0"/>
          <a:stretch/>
        </p:blipFill>
        <p:spPr>
          <a:xfrm>
            <a:off x="0" y="0"/>
            <a:ext cx="4191000" cy="5143500"/>
          </a:xfrm>
          <a:prstGeom prst="rect">
            <a:avLst/>
          </a:prstGeom>
          <a:noFill/>
          <a:ln>
            <a:noFill/>
          </a:ln>
        </p:spPr>
      </p:pic>
      <p:sp>
        <p:nvSpPr>
          <p:cNvPr id="334" name="Google Shape;334;p30"/>
          <p:cNvSpPr/>
          <p:nvPr/>
        </p:nvSpPr>
        <p:spPr>
          <a:xfrm>
            <a:off x="0" y="0"/>
            <a:ext cx="4191000" cy="5143500"/>
          </a:xfrm>
          <a:prstGeom prst="rect">
            <a:avLst/>
          </a:prstGeom>
          <a:solidFill>
            <a:srgbClr val="292929">
              <a:alpha val="50196"/>
            </a:srgbClr>
          </a:solidFill>
          <a:ln cap="flat" cmpd="sng" w="12700">
            <a:solidFill>
              <a:srgbClr val="FFFFFF">
                <a:alpha val="0"/>
              </a:srgbClr>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35" name="Google Shape;335;p30"/>
          <p:cNvSpPr/>
          <p:nvPr/>
        </p:nvSpPr>
        <p:spPr>
          <a:xfrm>
            <a:off x="5057775" y="952500"/>
            <a:ext cx="3571875" cy="1238250"/>
          </a:xfrm>
          <a:prstGeom prst="rect">
            <a:avLst/>
          </a:prstGeom>
          <a:noFill/>
          <a:ln>
            <a:noFill/>
          </a:ln>
        </p:spPr>
        <p:txBody>
          <a:bodyPr anchorCtr="0" anchor="t" bIns="0" lIns="0" spcFirstLastPara="1" rIns="0" wrap="square" tIns="0">
            <a:noAutofit/>
          </a:bodyPr>
          <a:lstStyle/>
          <a:p>
            <a:pPr indent="0" lvl="0" marL="0" marR="0" rtl="0" algn="l">
              <a:lnSpc>
                <a:spcPct val="119949"/>
              </a:lnSpc>
              <a:spcBef>
                <a:spcPts val="0"/>
              </a:spcBef>
              <a:spcAft>
                <a:spcPts val="0"/>
              </a:spcAft>
              <a:buNone/>
            </a:pPr>
            <a:r>
              <a:rPr b="1" lang="en" sz="3700">
                <a:solidFill>
                  <a:srgbClr val="FFFFFF"/>
                </a:solidFill>
                <a:latin typeface="Liter"/>
                <a:ea typeface="Liter"/>
                <a:cs typeface="Liter"/>
                <a:sym typeface="Liter"/>
              </a:rPr>
              <a:t>Future </a:t>
            </a:r>
            <a:endParaRPr sz="3700">
              <a:solidFill>
                <a:schemeClr val="dk1"/>
              </a:solidFill>
              <a:latin typeface="Calibri"/>
              <a:ea typeface="Calibri"/>
              <a:cs typeface="Calibri"/>
              <a:sym typeface="Calibri"/>
            </a:endParaRPr>
          </a:p>
          <a:p>
            <a:pPr indent="0" lvl="0" marL="0" marR="0" rtl="0" algn="l">
              <a:lnSpc>
                <a:spcPct val="119949"/>
              </a:lnSpc>
              <a:spcBef>
                <a:spcPts val="0"/>
              </a:spcBef>
              <a:spcAft>
                <a:spcPts val="0"/>
              </a:spcAft>
              <a:buNone/>
            </a:pPr>
            <a:r>
              <a:rPr b="1" lang="en" sz="3700">
                <a:solidFill>
                  <a:srgbClr val="FFFFFF"/>
                </a:solidFill>
                <a:latin typeface="Liter"/>
                <a:ea typeface="Liter"/>
                <a:cs typeface="Liter"/>
                <a:sym typeface="Liter"/>
              </a:rPr>
              <a:t>Enhancements</a:t>
            </a:r>
            <a:endParaRPr sz="3700">
              <a:solidFill>
                <a:schemeClr val="dk1"/>
              </a:solidFill>
              <a:latin typeface="Calibri"/>
              <a:ea typeface="Calibri"/>
              <a:cs typeface="Calibri"/>
              <a:sym typeface="Calibri"/>
            </a:endParaRPr>
          </a:p>
        </p:txBody>
      </p:sp>
      <p:sp>
        <p:nvSpPr>
          <p:cNvPr id="336" name="Google Shape;336;p30"/>
          <p:cNvSpPr/>
          <p:nvPr/>
        </p:nvSpPr>
        <p:spPr>
          <a:xfrm>
            <a:off x="5057775" y="2286000"/>
            <a:ext cx="714375" cy="19050"/>
          </a:xfrm>
          <a:prstGeom prst="rect">
            <a:avLst/>
          </a:prstGeom>
          <a:solidFill>
            <a:srgbClr val="7EC0DA"/>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337" name="Google Shape;337;p30"/>
          <p:cNvSpPr/>
          <p:nvPr/>
        </p:nvSpPr>
        <p:spPr>
          <a:xfrm>
            <a:off x="5057775" y="2476500"/>
            <a:ext cx="3714750" cy="1333500"/>
          </a:xfrm>
          <a:prstGeom prst="rect">
            <a:avLst/>
          </a:prstGeom>
          <a:noFill/>
          <a:ln>
            <a:noFill/>
          </a:ln>
        </p:spPr>
        <p:txBody>
          <a:bodyPr anchorCtr="0" anchor="t" bIns="0" lIns="0" spcFirstLastPara="1" rIns="0" wrap="square" tIns="0">
            <a:noAutofit/>
          </a:bodyPr>
          <a:lstStyle/>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Scale to full dataset (currently 300 docs)</a:t>
            </a:r>
            <a:endParaRPr sz="1100">
              <a:solidFill>
                <a:schemeClr val="dk1"/>
              </a:solidFill>
              <a:latin typeface="Calibri"/>
              <a:ea typeface="Calibri"/>
              <a:cs typeface="Calibri"/>
              <a:sym typeface="Calibri"/>
            </a:endParaRPr>
          </a:p>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Multi-language support for India</a:t>
            </a:r>
            <a:endParaRPr sz="1100">
              <a:solidFill>
                <a:schemeClr val="dk1"/>
              </a:solidFill>
              <a:latin typeface="Calibri"/>
              <a:ea typeface="Calibri"/>
              <a:cs typeface="Calibri"/>
              <a:sym typeface="Calibri"/>
            </a:endParaRPr>
          </a:p>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Citation linking to original judgments</a:t>
            </a:r>
            <a:endParaRPr sz="1100">
              <a:solidFill>
                <a:schemeClr val="dk1"/>
              </a:solidFill>
              <a:latin typeface="Calibri"/>
              <a:ea typeface="Calibri"/>
              <a:cs typeface="Calibri"/>
              <a:sym typeface="Calibri"/>
            </a:endParaRPr>
          </a:p>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User feedback loop for relevance</a:t>
            </a:r>
            <a:endParaRPr sz="1100">
              <a:solidFill>
                <a:schemeClr val="dk1"/>
              </a:solidFill>
              <a:latin typeface="Calibri"/>
              <a:ea typeface="Calibri"/>
              <a:cs typeface="Calibri"/>
              <a:sym typeface="Calibri"/>
            </a:endParaRPr>
          </a:p>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Real-time court API integration</a:t>
            </a:r>
            <a:endParaRPr sz="1100">
              <a:solidFill>
                <a:schemeClr val="dk1"/>
              </a:solidFill>
              <a:latin typeface="Calibri"/>
              <a:ea typeface="Calibri"/>
              <a:cs typeface="Calibri"/>
              <a:sym typeface="Calibri"/>
            </a:endParaRPr>
          </a:p>
          <a:p>
            <a:pPr indent="0" lvl="0" marL="0" marR="0" rtl="0" algn="l">
              <a:lnSpc>
                <a:spcPct val="140102"/>
              </a:lnSpc>
              <a:spcBef>
                <a:spcPts val="0"/>
              </a:spcBef>
              <a:spcAft>
                <a:spcPts val="0"/>
              </a:spcAft>
              <a:buNone/>
            </a:pPr>
            <a:r>
              <a:rPr lang="en" sz="1100">
                <a:solidFill>
                  <a:srgbClr val="7EC0DA"/>
                </a:solidFill>
                <a:latin typeface="Liter"/>
                <a:ea typeface="Liter"/>
                <a:cs typeface="Liter"/>
                <a:sym typeface="Liter"/>
              </a:rPr>
              <a:t>-</a:t>
            </a:r>
            <a:r>
              <a:rPr lang="en" sz="1100">
                <a:solidFill>
                  <a:srgbClr val="FFFFFF"/>
                </a:solidFill>
                <a:latin typeface="Liter"/>
                <a:ea typeface="Liter"/>
                <a:cs typeface="Liter"/>
                <a:sym typeface="Liter"/>
              </a:rPr>
              <a:t> Confidence scoring &amp; multi-model consensus</a:t>
            </a:r>
            <a:endParaRPr sz="1100">
              <a:solidFill>
                <a:schemeClr val="dk1"/>
              </a:solidFill>
              <a:latin typeface="Calibri"/>
              <a:ea typeface="Calibri"/>
              <a:cs typeface="Calibri"/>
              <a:sym typeface="Calibri"/>
            </a:endParaRPr>
          </a:p>
        </p:txBody>
      </p:sp>
      <p:sp>
        <p:nvSpPr>
          <p:cNvPr id="338" name="Google Shape;338;p30"/>
          <p:cNvSpPr/>
          <p:nvPr/>
        </p:nvSpPr>
        <p:spPr>
          <a:xfrm>
            <a:off x="5057775" y="4000500"/>
            <a:ext cx="2857500" cy="333375"/>
          </a:xfrm>
          <a:prstGeom prst="rect">
            <a:avLst/>
          </a:prstGeom>
          <a:noFill/>
          <a:ln>
            <a:noFill/>
          </a:ln>
        </p:spPr>
        <p:txBody>
          <a:bodyPr anchorCtr="0" anchor="t" bIns="0" lIns="0" spcFirstLastPara="1" rIns="0" wrap="square" tIns="0">
            <a:noAutofit/>
          </a:bodyPr>
          <a:lstStyle/>
          <a:p>
            <a:pPr indent="0" lvl="0" marL="0" marR="0" rtl="0" algn="l">
              <a:lnSpc>
                <a:spcPct val="140121"/>
              </a:lnSpc>
              <a:spcBef>
                <a:spcPts val="0"/>
              </a:spcBef>
              <a:spcAft>
                <a:spcPts val="0"/>
              </a:spcAft>
              <a:buNone/>
            </a:pPr>
            <a:r>
              <a:rPr b="1" lang="en" sz="1500">
                <a:solidFill>
                  <a:srgbClr val="7EC0DA"/>
                </a:solidFill>
                <a:latin typeface="Liter"/>
                <a:ea typeface="Liter"/>
                <a:cs typeface="Liter"/>
                <a:sym typeface="Liter"/>
              </a:rPr>
              <a:t>Thank You</a:t>
            </a:r>
            <a:endParaRPr sz="1500">
              <a:solidFill>
                <a:schemeClr val="dk1"/>
              </a:solidFill>
              <a:latin typeface="Calibri"/>
              <a:ea typeface="Calibri"/>
              <a:cs typeface="Calibri"/>
              <a:sym typeface="Calibri"/>
            </a:endParaRPr>
          </a:p>
        </p:txBody>
      </p:sp>
      <p:sp>
        <p:nvSpPr>
          <p:cNvPr id="339" name="Google Shape;339;p30"/>
          <p:cNvSpPr/>
          <p:nvPr/>
        </p:nvSpPr>
        <p:spPr>
          <a:xfrm>
            <a:off x="5057775" y="4381500"/>
            <a:ext cx="2857500" cy="28575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lang="en" sz="1200">
                <a:solidFill>
                  <a:srgbClr val="FFFFFF"/>
                </a:solidFill>
                <a:latin typeface="Liter"/>
                <a:ea typeface="Liter"/>
                <a:cs typeface="Liter"/>
                <a:sym typeface="Liter"/>
              </a:rPr>
              <a:t>Questions &amp; Discussion</a:t>
            </a:r>
            <a:endParaRPr sz="1200">
              <a:solidFill>
                <a:schemeClr val="dk1"/>
              </a:solidFill>
              <a:latin typeface="Calibri"/>
              <a:ea typeface="Calibri"/>
              <a:cs typeface="Calibri"/>
              <a:sym typeface="Calibri"/>
            </a:endParaRPr>
          </a:p>
        </p:txBody>
      </p:sp>
      <p:sp>
        <p:nvSpPr>
          <p:cNvPr id="340" name="Google Shape;340;p30"/>
          <p:cNvSpPr/>
          <p:nvPr/>
        </p:nvSpPr>
        <p:spPr>
          <a:xfrm>
            <a:off x="5057775" y="4714875"/>
            <a:ext cx="3810000" cy="238125"/>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lang="en" sz="900" u="sng">
                <a:solidFill>
                  <a:schemeClr val="hlink"/>
                </a:solidFill>
                <a:latin typeface="Liter"/>
                <a:ea typeface="Liter"/>
                <a:cs typeface="Liter"/>
                <a:sym typeface="Liter"/>
                <a:hlinkClick r:id="rId4"/>
              </a:rPr>
              <a:t>github.com/ThammaManohar/ACE_Capstone</a:t>
            </a:r>
            <a:endParaRPr sz="900">
              <a:solidFill>
                <a:schemeClr val="dk1"/>
              </a:solidFill>
              <a:latin typeface="Calibri"/>
              <a:ea typeface="Calibri"/>
              <a:cs typeface="Calibri"/>
              <a:sym typeface="Calibri"/>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